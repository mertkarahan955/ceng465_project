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9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967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 Replication in 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ADFC8"/>
                </a:solidFill>
              </a:rPr>
              <a:t>Single-Leader Environment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2677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0D8CC"/>
                </a:solidFill>
              </a:rPr>
              <a:t>MongoDB Replica Set  ·  Python Fleet Management Demo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Mert Karahan</a:t>
            </a:r>
            <a:r>
              <a:rPr lang="en-US" sz="1400" dirty="0">
                <a:solidFill>
                  <a:srgbClr val="AADFC8"/>
                </a:solidFill>
              </a:rPr>
              <a:t>  300201050</a:t>
            </a:r>
            <a:r>
              <a:rPr lang="en-US" sz="1400" dirty="0">
                <a:solidFill>
                  <a:srgbClr val="FFFFFF"/>
                </a:solidFill>
              </a:rPr>
              <a:t>     |     </a:t>
            </a:r>
            <a:r>
              <a:rPr lang="en-US" sz="1400" b="1" dirty="0">
                <a:solidFill>
                  <a:srgbClr val="FFFFFF"/>
                </a:solidFill>
              </a:rPr>
              <a:t>Doğukan Topçu</a:t>
            </a:r>
            <a:r>
              <a:rPr lang="en-US" sz="1400" dirty="0">
                <a:solidFill>
                  <a:srgbClr val="AADFC8"/>
                </a:solidFill>
              </a:rPr>
              <a:t>  290201036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C8A8"/>
                </a:solidFill>
              </a:rPr>
              <a:t>İzmir Institute of Technology  ·  CENG 465 — Principles of Data-Intensive Systems  ·  June 2026</a:t>
            </a:r>
            <a:endParaRPr lang="en-US" sz="1100" dirty="0"/>
          </a:p>
        </p:txBody>
      </p:sp>
      <p:pic>
        <p:nvPicPr>
          <p:cNvPr id="10" name="Claude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378" y="4368687"/>
            <a:ext cx="395431" cy="395431"/>
          </a:xfrm>
          <a:prstGeom prst="rect">
            <a:avLst/>
          </a:prstGeom>
        </p:spPr>
      </p:pic>
      <p:sp>
        <p:nvSpPr>
          <p:cNvPr id="11" name="PoweredBy"/>
          <p:cNvSpPr/>
          <p:nvPr/>
        </p:nvSpPr>
        <p:spPr>
          <a:xfrm>
            <a:off x="6754589" y="4320540"/>
            <a:ext cx="2028862" cy="491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DC8A8"/>
                </a:solidFill>
              </a:rPr>
              <a:t>Powered by </a:t>
            </a:r>
            <a:r>
              <a:rPr lang="en-US" sz="900" b="1" dirty="0">
                <a:solidFill>
                  <a:srgbClr val="D97656"/>
                </a:solidFill>
              </a:rPr>
              <a:t>Claude Code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Physical Topology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3749040" cy="658368"/>
          </a:xfrm>
          <a:prstGeom prst="rect">
            <a:avLst/>
          </a:prstGeom>
          <a:solidFill>
            <a:srgbClr val="FFF7ED"/>
          </a:solidFill>
          <a:ln w="1524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Control Node  </a:t>
            </a:r>
            <a:r>
              <a:rPr lang="en-US" sz="1000" dirty="0">
                <a:solidFill>
                  <a:srgbClr val="64748B"/>
                </a:solidFill>
              </a:rPr>
              <a:t>Flask / port 5001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2048256"/>
            <a:ext cx="0" cy="274320"/>
          </a:xfrm>
          <a:prstGeom prst="line">
            <a:avLst/>
          </a:prstGeom>
          <a:noFill/>
          <a:ln w="19050">
            <a:solidFill>
              <a:srgbClr val="006848"/>
            </a:solidFill>
            <a:prstDash val="sysDash"/>
          </a:ln>
        </p:spPr>
        <p:txBody>
          <a:bodyPr/>
          <a:lstStyle/>
          <a:p>
            <a:endParaRPr lang="en-TR"/>
          </a:p>
        </p:txBody>
      </p:sp>
      <p:sp>
        <p:nvSpPr>
          <p:cNvPr id="8" name="Shape 6"/>
          <p:cNvSpPr/>
          <p:nvPr/>
        </p:nvSpPr>
        <p:spPr>
          <a:xfrm>
            <a:off x="411480" y="2322576"/>
            <a:ext cx="3749040" cy="658368"/>
          </a:xfrm>
          <a:prstGeom prst="rect">
            <a:avLst/>
          </a:prstGeom>
          <a:solidFill>
            <a:srgbClr val="ECFDF5"/>
          </a:solidFill>
          <a:ln w="19050">
            <a:solidFill>
              <a:srgbClr val="0068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502920" y="232257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848"/>
                </a:solidFill>
              </a:rPr>
              <a:t>PRIMARY  </a:t>
            </a: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mongo-</a:t>
            </a:r>
            <a:r>
              <a:rPr lang="en-US" sz="9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primary.lan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2651760"/>
            <a:ext cx="502920" cy="0"/>
          </a:xfrm>
          <a:prstGeom prst="line">
            <a:avLst/>
          </a:prstGeom>
          <a:noFill/>
          <a:ln w="190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4160520" y="23957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oplog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2322576"/>
            <a:ext cx="374904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4754880" y="232257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SECONDARY  </a:t>
            </a: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mongo-secondary.lan  192.168.88.70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035808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Non-voting (votes=0, priority=0) — PRIMARY always writable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Replication Modes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389888"/>
            <a:ext cx="3749040" cy="804672"/>
          </a:xfrm>
          <a:prstGeom prst="rect">
            <a:avLst/>
          </a:prstGeom>
          <a:solidFill>
            <a:srgbClr val="ECFDF5"/>
          </a:solidFill>
          <a:ln w="12700">
            <a:solidFill>
              <a:srgbClr val="0068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7" name="Shape 15"/>
          <p:cNvSpPr/>
          <p:nvPr/>
        </p:nvSpPr>
        <p:spPr>
          <a:xfrm>
            <a:off x="4663440" y="1389888"/>
            <a:ext cx="64008" cy="804672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/>
          <p:nvPr/>
        </p:nvSpPr>
        <p:spPr>
          <a:xfrm>
            <a:off x="4800600" y="14081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848"/>
                </a:solidFill>
              </a:rPr>
              <a:t>Synchronous 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(w=majority)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170078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PRIMARY waits for SECONDARY ACK before returning ok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249424"/>
            <a:ext cx="3749040" cy="80467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1" name="Shape 19"/>
          <p:cNvSpPr/>
          <p:nvPr/>
        </p:nvSpPr>
        <p:spPr>
          <a:xfrm>
            <a:off x="4663440" y="2249424"/>
            <a:ext cx="6400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20"/>
          <p:cNvSpPr/>
          <p:nvPr/>
        </p:nvSpPr>
        <p:spPr>
          <a:xfrm>
            <a:off x="4800600" y="2267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Asynchronous 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(w=1)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56032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PRIMARY returns immediately; SECONDARY applies oplog later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364992"/>
            <a:ext cx="8321040" cy="640080"/>
          </a:xfrm>
          <a:prstGeom prst="rect">
            <a:avLst/>
          </a:prstGeom>
          <a:solidFill>
            <a:srgbClr val="E8F5F0"/>
          </a:solidFill>
          <a:ln w="63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/>
          <p:nvPr/>
        </p:nvSpPr>
        <p:spPr>
          <a:xfrm>
            <a:off x="548640" y="33649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848"/>
                </a:solidFill>
              </a:rPr>
              <a:t>Operation Log  </a:t>
            </a:r>
            <a:r>
              <a:rPr lang="en-US" sz="1150" dirty="0">
                <a:solidFill>
                  <a:srgbClr val="1A1A2E"/>
                </a:solidFill>
              </a:rPr>
              <a:t>Every write records  </a:t>
            </a:r>
            <a:r>
              <a:rPr lang="en-US" sz="1050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leader_write_time  ·  follower_visible_time  ·  replication_delay_ms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Schema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6 Fleet Collections  ·  Shared Document Envelope  ·  version field as reconciliation key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7033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6" name="Image 0" descr="/Users/mertkarahan/ceng465_project/presentation/erd.png"/>
          <p:cNvPicPr>
            <a:picLocks noChangeAspect="1"/>
          </p:cNvPicPr>
          <p:nvPr/>
        </p:nvPicPr>
        <p:blipFill>
          <a:blip r:embed="rId3"/>
          <a:srcRect t="-1299" b="-1299"/>
          <a:stretch/>
        </p:blipFill>
        <p:spPr>
          <a:xfrm>
            <a:off x="502920" y="1143000"/>
            <a:ext cx="3520440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88289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Figure: ER diagram — vehicles, drivers, depots, shipments, positions, incidents, operation_logs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434840" y="1024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Shared Document Envelope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371600"/>
            <a:ext cx="4297680" cy="50292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7"/>
          <p:cNvSpPr/>
          <p:nvPr/>
        </p:nvSpPr>
        <p:spPr>
          <a:xfrm>
            <a:off x="452628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/ value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80760" y="1417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Logical id + domain payload (vehicle, shipment, position, …)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434840" y="1938528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0"/>
          <p:cNvSpPr/>
          <p:nvPr/>
        </p:nvSpPr>
        <p:spPr>
          <a:xfrm>
            <a:off x="4526280" y="19842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19842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Monotonic counter — the reconciliation key for async (w=1) writes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434840" y="2505456"/>
            <a:ext cx="4297680" cy="50292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/>
          <p:nvPr/>
        </p:nvSpPr>
        <p:spPr>
          <a:xfrm>
            <a:off x="4526280" y="255117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last_updated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80760" y="255117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UTC timestamp set on every insert / update / delete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434840" y="3072384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6"/>
          <p:cNvSpPr/>
          <p:nvPr/>
        </p:nvSpPr>
        <p:spPr>
          <a:xfrm>
            <a:off x="4526280" y="31181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80760" y="311810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Soft-delete flag — documents are never hard-removed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434840" y="3730752"/>
            <a:ext cx="429768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/>
          <p:nvPr/>
        </p:nvSpPr>
        <p:spPr>
          <a:xfrm>
            <a:off x="4544568" y="3803904"/>
            <a:ext cx="4078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operation_logs </a:t>
            </a:r>
            <a:r>
              <a:rPr lang="en-US" sz="950" dirty="0">
                <a:solidFill>
                  <a:srgbClr val="1A1A2E"/>
                </a:solidFill>
              </a:rPr>
              <a:t>links to all 6 fleet collections via </a:t>
            </a: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target_id</a:t>
            </a:r>
            <a:r>
              <a:rPr lang="en-US" sz="950" dirty="0">
                <a:solidFill>
                  <a:srgbClr val="1A1A2E"/>
                </a:solidFill>
              </a:rPr>
              <a:t> — every insert / update / delete produces exactly one WAL-style entry, used to measure replication delay and drive reconciliation.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Operation Log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Every insert / update / delete produces exactly one entry in operation_logs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Key Fields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4297680" cy="420624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log_index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94560" y="138988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Global monotonic counter (Raft-style)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297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leader_write_time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94560" y="186537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UTC — when PRIMARY committed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04288"/>
            <a:ext cx="4297680" cy="420624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457200" y="23408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follower_visible_time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94560" y="234086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UTC — when SECONDARY showed version_after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779776"/>
            <a:ext cx="4297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457200" y="28163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replication_delay_ms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94560" y="28163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follower_visible_time − leader_write_time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255264"/>
            <a:ext cx="4297680" cy="420624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version_before / after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94560" y="329184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Document version before and after write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730752"/>
            <a:ext cx="4297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20"/>
          <p:cNvSpPr/>
          <p:nvPr/>
        </p:nvSpPr>
        <p:spPr>
          <a:xfrm>
            <a:off x="457200" y="37673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write_concern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94560" y="376732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synchronous (majority) or asynchronous (1)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4297680" cy="420624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/>
          <p:nvPr/>
        </p:nvSpPr>
        <p:spPr>
          <a:xfrm>
            <a:off x="457200" y="42428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94560" y="424281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pending_follower → visible_on_follower / timeout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0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Log Entry Lifecycle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0" y="1389888"/>
            <a:ext cx="2743200" cy="64008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9" name="Text 27"/>
          <p:cNvSpPr/>
          <p:nvPr/>
        </p:nvSpPr>
        <p:spPr>
          <a:xfrm>
            <a:off x="5486400" y="13898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pending_follower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2029968"/>
            <a:ext cx="0" cy="365760"/>
          </a:xfrm>
          <a:prstGeom prst="line">
            <a:avLst/>
          </a:prstGeom>
          <a:noFill/>
          <a:ln w="190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1" name="Text 29"/>
          <p:cNvSpPr/>
          <p:nvPr/>
        </p:nvSpPr>
        <p:spPr>
          <a:xfrm>
            <a:off x="4800600" y="20756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6848"/>
                </a:solidFill>
              </a:rPr>
              <a:t>secondary.version ≥ version_after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0" y="2395728"/>
            <a:ext cx="2743200" cy="640080"/>
          </a:xfrm>
          <a:prstGeom prst="rect">
            <a:avLst/>
          </a:prstGeom>
          <a:solidFill>
            <a:srgbClr val="ECFDF5"/>
          </a:solidFill>
          <a:ln w="19050">
            <a:solidFill>
              <a:srgbClr val="0068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33" name="Text 31"/>
          <p:cNvSpPr/>
          <p:nvPr/>
        </p:nvSpPr>
        <p:spPr>
          <a:xfrm>
            <a:off x="5486400" y="23957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visible_on_follower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1709928"/>
            <a:ext cx="36576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TR"/>
          </a:p>
        </p:txBody>
      </p:sp>
      <p:sp>
        <p:nvSpPr>
          <p:cNvPr id="35" name="Text 33"/>
          <p:cNvSpPr/>
          <p:nvPr/>
        </p:nvSpPr>
        <p:spPr>
          <a:xfrm>
            <a:off x="827532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C2626"/>
                </a:solidFill>
              </a:rPr>
              <a:t>poll timeout (5 s)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486400" y="3291840"/>
            <a:ext cx="2743200" cy="54864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37" name="Text 35"/>
          <p:cNvSpPr/>
          <p:nvPr/>
        </p:nvSpPr>
        <p:spPr>
          <a:xfrm>
            <a:off x="548640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 → reconciler retries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0" y="3035808"/>
            <a:ext cx="0" cy="256032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n-TR"/>
          </a:p>
        </p:txBody>
      </p:sp>
      <p:sp>
        <p:nvSpPr>
          <p:cNvPr id="39" name="Text 37"/>
          <p:cNvSpPr/>
          <p:nvPr/>
        </p:nvSpPr>
        <p:spPr>
          <a:xfrm>
            <a:off x="4846320" y="3035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DC2626"/>
                </a:solidFill>
              </a:rPr>
              <a:t>not visible after 5s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983480" y="4023360"/>
            <a:ext cx="3794760" cy="822960"/>
          </a:xfrm>
          <a:prstGeom prst="rect">
            <a:avLst/>
          </a:prstGeom>
          <a:solidFill>
            <a:srgbClr val="E8F5F0"/>
          </a:solidFill>
          <a:ln w="63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1" name="Text 39"/>
          <p:cNvSpPr/>
          <p:nvPr/>
        </p:nvSpPr>
        <p:spPr>
          <a:xfrm>
            <a:off x="5074920" y="4041648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848"/>
                </a:solidFill>
              </a:rPr>
              <a:t>Synchronous: </a:t>
            </a:r>
            <a:r>
              <a:rPr lang="en-US" sz="1050" dirty="0">
                <a:solidFill>
                  <a:srgbClr val="1A1A2E"/>
                </a:solidFill>
              </a:rPr>
              <a:t>closed inline before HTTP response
</a:t>
            </a:r>
            <a:r>
              <a:rPr lang="en-US" sz="1050" b="1" dirty="0">
                <a:solidFill>
                  <a:srgbClr val="D97706"/>
                </a:solidFill>
              </a:rPr>
              <a:t>Asynchronous: </a:t>
            </a:r>
            <a:r>
              <a:rPr lang="en-US" sz="1050" dirty="0">
                <a:solidFill>
                  <a:srgbClr val="1A1A2E"/>
                </a:solidFill>
              </a:rPr>
              <a:t>closed by background reconciler (every 1 s)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 1 — Synchronous Replication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GPS position written with w=majority  ·  collection: positions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PRIMARY does not return ok until SECONDARY replays the oplog entry and acknowledges. Client sees the full round-trip latency as the write cost.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6848"/>
                </a:solidFill>
              </a:rPr>
              <a:t>166.4 ms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048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Total write duration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6B"/>
                </a:solidFill>
              </a:rPr>
              <a:t>~159.8 ms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2048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SECONDARY apply + ACK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06"/>
                </a:solidFill>
              </a:rPr>
              <a:t>&lt; 4 ms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480560" y="2048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Each network leg (one-way)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6848"/>
                </a:solidFill>
              </a:rPr>
              <a:t>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37960" y="2048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Stale reads possible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59152"/>
            <a:ext cx="8412480" cy="566928"/>
          </a:xfrm>
          <a:prstGeom prst="rect">
            <a:avLst/>
          </a:prstGeom>
          <a:solidFill>
            <a:srgbClr val="E8F5F0"/>
          </a:solidFill>
          <a:ln w="1016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hape 13"/>
          <p:cNvSpPr/>
          <p:nvPr/>
        </p:nvSpPr>
        <p:spPr>
          <a:xfrm>
            <a:off x="365760" y="2359152"/>
            <a:ext cx="64008" cy="566928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530352" y="2359152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848"/>
                </a:solidFill>
              </a:rPr>
              <a:t>Key observation:  </a:t>
            </a:r>
            <a:r>
              <a:rPr lang="en-US" sz="1050" dirty="0">
                <a:solidFill>
                  <a:srgbClr val="1A1A2E"/>
                </a:solidFill>
              </a:rPr>
              <a:t>PRIMARY lane shows a wide ~160 ms processing band blocked on SECONDARY's ACK — this directly visualises the synchronous replication penalty (the price of durability). The dominant cost is SECONDARY's oplog replay &amp; disk fsync, not the network — each hop is under 4 ms.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035808"/>
            <a:ext cx="8412480" cy="1783080"/>
          </a:xfrm>
          <a:prstGeom prst="rect">
            <a:avLst/>
          </a:prstGeom>
          <a:solidFill>
            <a:srgbClr val="0D111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18" name="Image 0" descr="/Users/mertkarahan/ceng465_project/presentation/ex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3035808"/>
            <a:ext cx="5605272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 2 — Eventual Consistency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Asynchronous write + secondaryDelaySecs=1  ·  collection: positions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Asynchronous update (v1→v2) issued with w=1; ok returns in 10.6 ms without waiting for SECONDARY. Three secondary reads at 212 ms, 561 ms, 1163 ms from experiment start, interleaved with PRIMARY reference reads.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6B"/>
                </a:solidFill>
              </a:rPr>
              <a:t>10.6 ms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048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Write returned (async)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</a:rPr>
              <a:t>2 / 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2048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Stale secondary reads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06"/>
                </a:solidFill>
              </a:rPr>
              <a:t>1163 ms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480560" y="2048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Consistency window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748B"/>
                </a:solidFill>
              </a:rPr>
              <a:t>1 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37960" y="2048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Artificial delay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8412480" cy="731520"/>
          </a:xfrm>
          <a:prstGeom prst="rect">
            <a:avLst/>
          </a:prstGeom>
          <a:solidFill>
            <a:srgbClr val="E8F5F0"/>
          </a:solidFill>
          <a:ln w="1016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64008" cy="731520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530352" y="239572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</a:rPr>
              <a:t>Key observation:  </a:t>
            </a:r>
            <a:r>
              <a:rPr lang="en-US" sz="1000" dirty="0">
                <a:solidFill>
                  <a:srgbClr val="1A1A2E"/>
                </a:solidFill>
              </a:rPr>
              <a:t>PRIMARY already serves v2 at 222 ms while SECONDARY still answers v1 at 212 ms and 561 ms — 2 of 3 reads are stale. Only the 3rd secondary read, at 1163 ms, converges to v2: the system is inconsistent for ~1.16 s. secondaryDelaySecs=1 was set on the replica set purely to make this window observable on a LAN (real replication_delay_ms = 252 ms).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0773" y="3255264"/>
            <a:ext cx="5502454" cy="1837944"/>
          </a:xfrm>
          <a:prstGeom prst="rect">
            <a:avLst/>
          </a:prstGeom>
          <a:solidFill>
            <a:srgbClr val="0D111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18" name="Image 0" descr="/Users/mertkarahan/ceng465_project/presentation/ex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925" y="3328416"/>
            <a:ext cx="535615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 3 — Read-After-Write Consistency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Insert on PRIMARY (w=1), then immediate reads from PRIMARY and SECONDARY  ·  collection: incidents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An incident is inserted asynchronously (w=1), then immediately re-read — once via the RAW path (PRIMARY), once via the naive path (SECONDARY) — to check whether the dispatcher sees its own write.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6848"/>
                </a:solidFill>
              </a:rPr>
              <a:t>6.5 ms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PRIMARY read — always fresh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D97706"/>
                </a:solidFill>
              </a:rPr>
              <a:t>stale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2011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SECONDARY read — write not yet visible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6B"/>
                </a:solidFill>
              </a:rPr>
              <a:t>3.93 ms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480560" y="2011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Secondary replication delay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6848"/>
                </a:solidFill>
              </a:rPr>
              <a:t>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37960" y="2011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Stale reads after PRIMARY routing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8412480" cy="777240"/>
          </a:xfrm>
          <a:prstGeom prst="rect">
            <a:avLst/>
          </a:prstGeom>
          <a:solidFill>
            <a:srgbClr val="E8F5F0"/>
          </a:solidFill>
          <a:ln w="1016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64008" cy="777240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530352" y="2395728"/>
            <a:ext cx="8183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</a:rPr>
              <a:t>Key observation &amp; fix:  </a:t>
            </a:r>
            <a:r>
              <a:rPr lang="en-US" sz="1000" dirty="0">
                <a:solidFill>
                  <a:srgbClr val="1A1A2E"/>
                </a:solidFill>
              </a:rPr>
              <a:t>Reading the dispatcher's own incident from PRIMARY returns it fresh in 6.5 ms. The same read against SECONDARY, fired ~6 ms later, still answers "not visible on secondary" — replication only catches up ~3.9 ms afterward — so a follower-routed client would briefly believe its own incident doesn't exist. Fix: route reads to PRIMARY for the writing session ("read-your-own-writes" stickiness), at the cost of extra load on the leader (log_index 750, operation_id f717e047).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99989" y="3246120"/>
            <a:ext cx="5744022" cy="1792224"/>
          </a:xfrm>
          <a:prstGeom prst="rect">
            <a:avLst/>
          </a:prstGeom>
          <a:solidFill>
            <a:srgbClr val="0D111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18" name="Image 0" descr="/Users/mertkarahan/ceng465_project/presentation/ex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141" y="3319272"/>
            <a:ext cx="5597718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 4 — Monotonic Reads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5 chained w=1 updates (v1→v5), then 5 consecutive reads from the same SECONDARY  ·  collection: shipments  ·  DDIA Fig. 5-4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Status progression pending → in_transit → delivered is written as v1…v5, then the same SECONDARY is read 5 times in a row (144–254 ms after the first write).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6848"/>
                </a:solidFill>
              </a:rPr>
              <a:t>5 / 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048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Reads saw v5 — final version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6848"/>
                </a:solidFill>
              </a:rPr>
              <a:t>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2048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Backward reads observed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6B"/>
                </a:solidFill>
              </a:rPr>
              <a:t>0.58 ms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480560" y="2048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Avg replication delay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06"/>
                </a:solidFill>
              </a:rPr>
              <a:t>120 ms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37960" y="2048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All 5 writes applied on SECONDARY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8412480" cy="777240"/>
          </a:xfrm>
          <a:prstGeom prst="rect">
            <a:avLst/>
          </a:prstGeom>
          <a:solidFill>
            <a:srgbClr val="E8F5F0"/>
          </a:solidFill>
          <a:ln w="1016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64008" cy="777240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530352" y="2395728"/>
            <a:ext cx="8183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</a:rPr>
              <a:t>Key observation:  </a:t>
            </a:r>
            <a:r>
              <a:rPr lang="en-US" sz="1000" dirty="0">
                <a:solidFill>
                  <a:srgbClr val="1A1A2E"/>
                </a:solidFill>
              </a:rPr>
              <a:t>All 5 reads — fired 144 ms, 172 ms, 199 ms, 226 ms and 254 ms after the first write — return v5, the final version (versions_written = [1,2,3,4,5], versions_seen = [5,5,5,5,5]). SECONDARY applies a single ordered oplog stream, so its version number can only move forward: monotonic reads hold by construction, with zero backward reads in this run (log_index 739, operation_id 53a1a26e).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79448" y="3255264"/>
            <a:ext cx="5785104" cy="1837944"/>
          </a:xfrm>
          <a:prstGeom prst="rect">
            <a:avLst/>
          </a:prstGeom>
          <a:solidFill>
            <a:srgbClr val="0D111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18" name="Image 0" descr="/Users/mertkarahan/ceng465_project/presentation/ex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328416"/>
            <a:ext cx="563880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 5 — Concurrent Writes: Propagation Order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2 threads × 3 asynchronous inserts simultaneously  ·  collection: vehicles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PRIMARY serialises all concurrent writes through its oplog (log_index). SECONDARY must apply them in the same order.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6848"/>
                </a:solidFill>
              </a:rPr>
              <a:t>6 / 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Visible on secondary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6B"/>
                </a:solidFill>
              </a:rPr>
              <a:t>28.5 ms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2011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Avg latency — User 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6B"/>
                </a:solidFill>
              </a:rPr>
              <a:t>28.4 ms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480560" y="2011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Avg latency — User B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144475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06"/>
                </a:solidFill>
              </a:rPr>
              <a:t>~7 ms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37960" y="2011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Oplog batch replication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8412480" cy="713232"/>
          </a:xfrm>
          <a:prstGeom prst="rect">
            <a:avLst/>
          </a:prstGeom>
          <a:solidFill>
            <a:srgbClr val="E8F5F0"/>
          </a:solidFill>
          <a:ln w="1016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64008" cy="713232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530352" y="2395728"/>
            <a:ext cx="8183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</a:rPr>
              <a:t>Key observation:  </a:t>
            </a:r>
            <a:r>
              <a:rPr lang="en-US" sz="1000" dirty="0">
                <a:solidFill>
                  <a:srgbClr val="1A1A2E"/>
                </a:solidFill>
              </a:rPr>
              <a:t>PRIMARY assigned monotonically increasing log_index values 744 → 749 to the 6 concurrent w=1 writes, in true arrival order (A1, B1, B2, A2, B3, A3 — User A and User B interleaved). SECONDARY applied its oplog batch in that exact sequence: 6/6 documents visible only ~7 ms after the burst finished, and the order check confirms log_index order is always preserved — even under true thread-level concurrency.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89480" y="3200400"/>
            <a:ext cx="4965041" cy="1929384"/>
          </a:xfrm>
          <a:prstGeom prst="rect">
            <a:avLst/>
          </a:prstGeom>
          <a:solidFill>
            <a:srgbClr val="0D111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18" name="Image 0" descr="/Users/mertkarahan/ceng465_project/presentation/ex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632" y="3273552"/>
            <a:ext cx="4818737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Testing &amp;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848"/>
                </a:solidFill>
              </a:rPr>
              <a:t>Automated Test Suite  (test_replication.py)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1371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Basic CRUD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31136" y="13716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Insert→Update→Delete, version matches on secondary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37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/>
          <p:nvPr/>
        </p:nvSpPr>
        <p:spPr>
          <a:xfrm>
            <a:off x="365760" y="1837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" y="18379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Fleet Static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31136" y="183794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vehicles/drivers/depots replicate to correct collection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30428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365760" y="2304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23042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Shipment Monotonic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31136" y="230428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Status sequence always non-decreasing on secondary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77063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/>
          <p:nvPr/>
        </p:nvSpPr>
        <p:spPr>
          <a:xfrm>
            <a:off x="365760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27706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Position Burst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31136" y="27706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10 GPS inserts — replication delay measured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20"/>
          <p:cNvSpPr/>
          <p:nvPr/>
        </p:nvSpPr>
        <p:spPr>
          <a:xfrm>
            <a:off x="36576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" y="32369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Incident RAW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31136" y="32369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PRIMARY read always returns new document instantly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4"/>
          <p:cNvSpPr/>
          <p:nvPr/>
        </p:nvSpPr>
        <p:spPr>
          <a:xfrm>
            <a:off x="36576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" y="3703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Async Window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31136" y="37033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Stale reads observed; all visible after 2 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1696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Text 28"/>
          <p:cNvSpPr/>
          <p:nvPr/>
        </p:nvSpPr>
        <p:spPr>
          <a:xfrm>
            <a:off x="365760" y="4169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" y="4169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Op-Log Routing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31136" y="416966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target_collection correctly recorded per insert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1024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6848"/>
                </a:solidFill>
              </a:rPr>
              <a:t>Performance Measurements  (LAN)</a:t>
            </a:r>
            <a:endParaRPr lang="en-US" sz="125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931920" cy="267004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One-way → PRIMARY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9.6 ms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One-way → SECONDARY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2.2 ms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848"/>
                          </a:solidFill>
                        </a:rPr>
                        <a:t>Synchronous write total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6848"/>
                          </a:solidFill>
                        </a:rPr>
                        <a:t>61.8 ms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Asynchronous write total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9–12 ms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Sync overhead over async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~52 ms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Oplog (no delay)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10–44 ms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Oplog (1 s delay)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326–1281 ms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Text 32"/>
          <p:cNvSpPr/>
          <p:nvPr/>
        </p:nvSpPr>
        <p:spPr>
          <a:xfrm>
            <a:off x="4846320" y="4114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</a:rPr>
              <a:t>Dominant cost: SECONDARY disk acknowledgement (~46 ms), not network (&lt;5 ms one-way)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65760" y="4590288"/>
            <a:ext cx="4114800" cy="347472"/>
          </a:xfrm>
          <a:prstGeom prst="rect">
            <a:avLst/>
          </a:prstGeom>
          <a:solidFill>
            <a:srgbClr val="E8F5F0"/>
          </a:solidFill>
          <a:ln w="63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7" name="Text 34"/>
          <p:cNvSpPr/>
          <p:nvPr/>
        </p:nvSpPr>
        <p:spPr>
          <a:xfrm>
            <a:off x="457200" y="4590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</a:rPr>
              <a:t>Manual failure test:  </a:t>
            </a:r>
            <a:r>
              <a:rPr lang="en-US" sz="950" dirty="0">
                <a:solidFill>
                  <a:srgbClr val="1A1A2E"/>
                </a:solidFill>
              </a:rPr>
              <a:t>sync rejected offline → async pending_follower → secondary back → reconciler closes log as visible_on_follower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6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DFC8"/>
                </a:solidFill>
              </a:rPr>
              <a:t>Five consistency scenarios demonstrated on real hardware — no containers, no simulated latency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47472" cy="34747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DFC8"/>
                </a:solidFill>
              </a:rPr>
              <a:t>Synchronous Replication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276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166.4 ms total write — both nodes consistent before client receives ok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347472" cy="34747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00253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DFC8"/>
                </a:solidFill>
              </a:rPr>
              <a:t>Eventual Consistency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30428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2/3 reads stale; system converges within 1163 ms (1 s artificial delay)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347472" cy="34747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457200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67919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DFC8"/>
                </a:solidFill>
              </a:rPr>
              <a:t>Read-After-Write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98094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PRIMARY read 6.5 ms — always fresh; SECONDARY briefly stale (~3.9 ms to catch up)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347472" cy="34747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/>
          <p:nvPr/>
        </p:nvSpPr>
        <p:spPr>
          <a:xfrm>
            <a:off x="45720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35584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DFC8"/>
                </a:solidFill>
              </a:rPr>
              <a:t>Monotonic Reads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65760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Versions [5,5,5,5,5], 0 backward reads — oplog ordering forbids regression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78224"/>
            <a:ext cx="347472" cy="34747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20"/>
          <p:cNvSpPr/>
          <p:nvPr/>
        </p:nvSpPr>
        <p:spPr>
          <a:xfrm>
            <a:off x="457200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3250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DFC8"/>
                </a:solidFill>
              </a:rPr>
              <a:t>Concurrent Writes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33425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log_index 744–749 — write order preserved exactly on SECONDARY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5038"/>
          </a:solidFill>
          <a:ln w="12700">
            <a:solidFill>
              <a:srgbClr val="0050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DC8A8"/>
                </a:solidFill>
              </a:rPr>
              <a:t>The operation_logs collection makes replication delay a first-class measured metric — not an invisible side effect.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1517</Words>
  <Application>Microsoft Macintosh PowerPoint</Application>
  <PresentationFormat>On-screen Show (16:9)</PresentationFormat>
  <Paragraphs>188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Replication in a Single-Leader Environment</dc:title>
  <dc:subject>PptxGenJS Presentation</dc:subject>
  <dc:creator>Mert Karahan, Dogukan Topcu</dc:creator>
  <cp:lastModifiedBy>DOĞUKAN TOPÇU</cp:lastModifiedBy>
  <cp:revision>4</cp:revision>
  <dcterms:created xsi:type="dcterms:W3CDTF">2026-06-08T19:53:07Z</dcterms:created>
  <dcterms:modified xsi:type="dcterms:W3CDTF">2026-06-15T18:40:10Z</dcterms:modified>
</cp:coreProperties>
</file>