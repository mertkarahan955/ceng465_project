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68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8229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 Replication in 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AADFC8"/>
                </a:solidFill>
              </a:rPr>
              <a:t>Single-Leader Environment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22677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B0D8CC"/>
                </a:solidFill>
              </a:rPr>
              <a:t>MongoDB Replica Set  ·  Python Fleet Management Demo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00400" y="2743200"/>
            <a:ext cx="2743200" cy="36576"/>
          </a:xfrm>
          <a:prstGeom prst="rect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8803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Mert Karahan</a:t>
            </a:r>
            <a:pPr algn="ctr" indent="0" marL="0">
              <a:buNone/>
            </a:pPr>
            <a:r>
              <a:rPr lang="en-US" sz="1400" dirty="0">
                <a:solidFill>
                  <a:srgbClr val="AADFC8"/>
                </a:solidFill>
              </a:rPr>
              <a:t>  300201050</a:t>
            </a:r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     |     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Doğukan Topçu</a:t>
            </a:r>
            <a:pPr algn="ctr" indent="0" marL="0">
              <a:buNone/>
            </a:pPr>
            <a:r>
              <a:rPr lang="en-US" sz="1400" dirty="0">
                <a:solidFill>
                  <a:srgbClr val="AADFC8"/>
                </a:solidFill>
              </a:rPr>
              <a:t>  290201036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33375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DC8A8"/>
                </a:solidFill>
              </a:rPr>
              <a:t>İzmir Institute of Technology  ·  CENG 465 — Principles of Data-Intensive Systems  ·  June 2026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94560" y="3977640"/>
            <a:ext cx="4754880" cy="685800"/>
          </a:xfrm>
          <a:prstGeom prst="roundRect">
            <a:avLst>
              <a:gd name="adj" fmla="val 10667"/>
            </a:avLst>
          </a:prstGeom>
          <a:solidFill>
            <a:srgbClr val="005038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94560" y="397764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DF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PRIMARY  192.168.88.30    |    SECONDARY  192.168.88.70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6848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0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System Architecture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848"/>
                </a:solidFill>
              </a:rPr>
              <a:t>Physical Topology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389888"/>
            <a:ext cx="3749040" cy="658368"/>
          </a:xfrm>
          <a:prstGeom prst="rect">
            <a:avLst/>
          </a:prstGeom>
          <a:solidFill>
            <a:srgbClr val="FFF7ED"/>
          </a:solidFill>
          <a:ln w="15240">
            <a:solidFill>
              <a:srgbClr val="F9731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389888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</a:rPr>
              <a:t>Control Node  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Flask / port 5001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286000" y="2048256"/>
            <a:ext cx="0" cy="274320"/>
          </a:xfrm>
          <a:prstGeom prst="line">
            <a:avLst/>
          </a:prstGeom>
          <a:noFill/>
          <a:ln w="19050">
            <a:solidFill>
              <a:srgbClr val="006848"/>
            </a:solidFill>
            <a:prstDash val="sysDash"/>
          </a:ln>
        </p:spPr>
      </p:sp>
      <p:sp>
        <p:nvSpPr>
          <p:cNvPr id="8" name="Shape 6"/>
          <p:cNvSpPr/>
          <p:nvPr/>
        </p:nvSpPr>
        <p:spPr>
          <a:xfrm>
            <a:off x="411480" y="2322576"/>
            <a:ext cx="3749040" cy="658368"/>
          </a:xfrm>
          <a:prstGeom prst="rect">
            <a:avLst/>
          </a:prstGeom>
          <a:solidFill>
            <a:srgbClr val="ECFDF5"/>
          </a:solidFill>
          <a:ln w="19050">
            <a:solidFill>
              <a:srgbClr val="00684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" y="2322576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848"/>
                </a:solidFill>
              </a:rPr>
              <a:t>PRIMARY  </a:t>
            </a:r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mongo-primary.lan  192.168.88.30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60520" y="2651760"/>
            <a:ext cx="502920" cy="0"/>
          </a:xfrm>
          <a:prstGeom prst="line">
            <a:avLst/>
          </a:prstGeom>
          <a:noFill/>
          <a:ln w="19050">
            <a:solidFill>
              <a:srgbClr val="00684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60520" y="23957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oplog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663440" y="2322576"/>
            <a:ext cx="3749040" cy="658368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0" y="2322576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SECONDARY  </a:t>
            </a:r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mongo-secondary.lan  192.168.88.70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11480" y="3035808"/>
            <a:ext cx="8001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Non-voting (votes=0, priority=0) — PRIMARY always writable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63440" y="105156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848"/>
                </a:solidFill>
              </a:rPr>
              <a:t>Replication Modes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663440" y="1389888"/>
            <a:ext cx="3749040" cy="804672"/>
          </a:xfrm>
          <a:prstGeom prst="rect">
            <a:avLst/>
          </a:prstGeom>
          <a:solidFill>
            <a:srgbClr val="ECFDF5"/>
          </a:solidFill>
          <a:ln w="12700">
            <a:solidFill>
              <a:srgbClr val="00684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1389888"/>
            <a:ext cx="64008" cy="804672"/>
          </a:xfrm>
          <a:prstGeom prst="rect">
            <a:avLst/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00600" y="1408176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848"/>
                </a:solidFill>
              </a:rPr>
              <a:t>Synchronous  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(w=majority)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00600" y="1700784"/>
            <a:ext cx="3520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</a:rPr>
              <a:t>PRIMARY waits for SECONDARY ACK before returning ok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663440" y="2249424"/>
            <a:ext cx="3749040" cy="804672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63440" y="2249424"/>
            <a:ext cx="64008" cy="80467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2267712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Asynchronous  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(w=1)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00600" y="2560320"/>
            <a:ext cx="3520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</a:rPr>
              <a:t>PRIMARY returns immediately; SECONDARY applies oplog later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11480" y="3364992"/>
            <a:ext cx="8321040" cy="640080"/>
          </a:xfrm>
          <a:prstGeom prst="rect">
            <a:avLst/>
          </a:prstGeom>
          <a:solidFill>
            <a:srgbClr val="E8F5F0"/>
          </a:solidFill>
          <a:ln w="6350">
            <a:solidFill>
              <a:srgbClr val="00684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336499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848"/>
                </a:solidFill>
              </a:rPr>
              <a:t>Operation Log  </a:t>
            </a:r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</a:rPr>
              <a:t>Every write records  </a:t>
            </a:r>
            <a:pPr indent="0" marL="0">
              <a:buNone/>
            </a:pPr>
            <a:r>
              <a:rPr lang="en-US" sz="1050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leader_write_time  ·  follower_visible_time  ·  replication_delay_ms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6848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0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Schema Design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59436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DFC8"/>
                </a:solidFill>
              </a:rPr>
              <a:t>6 Fleet Collections  ·  Shared Document Envelope  ·  version field as reconciliation key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51560"/>
            <a:ext cx="3703320" cy="3794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pic>
        <p:nvPicPr>
          <p:cNvPr id="6" name="Image 0" descr="/Users/mertkarahan/ceng465_project/presentation/erd.png">    </p:cNvPr>
          <p:cNvPicPr>
            <a:picLocks noChangeAspect="1"/>
          </p:cNvPicPr>
          <p:nvPr/>
        </p:nvPicPr>
        <p:blipFill>
          <a:blip r:embed="rId1"/>
          <a:srcRect l="0" r="0" t="-1299" b="-1299"/>
          <a:stretch/>
        </p:blipFill>
        <p:spPr>
          <a:xfrm>
            <a:off x="502920" y="1143000"/>
            <a:ext cx="3520440" cy="3611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11480" y="4882896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4748B"/>
                </a:solidFill>
              </a:rPr>
              <a:t>Figure: ER diagram — vehicles, drivers, depots, shipments, positions, incidents, operation_logs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4434840" y="102412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848"/>
                </a:solidFill>
              </a:rPr>
              <a:t>Shared Document Envelope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434840" y="1371600"/>
            <a:ext cx="4297680" cy="502920"/>
          </a:xfrm>
          <a:prstGeom prst="rect">
            <a:avLst/>
          </a:prstGeom>
          <a:solidFill>
            <a:srgbClr val="E8F5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26280" y="14173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 / value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080760" y="14173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</a:rPr>
              <a:t>Logical id + domain payload (vehicle, shipment, position, …)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434840" y="1938528"/>
            <a:ext cx="42976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26280" y="198424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version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080760" y="198424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</a:rPr>
              <a:t>Monotonic counter — the reconciliation key for async (w=1) writes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434840" y="2505456"/>
            <a:ext cx="4297680" cy="502920"/>
          </a:xfrm>
          <a:prstGeom prst="rect">
            <a:avLst/>
          </a:prstGeom>
          <a:solidFill>
            <a:srgbClr val="E8F5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526280" y="2551176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last_updated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080760" y="2551176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</a:rPr>
              <a:t>UTC timestamp set on every insert / update / delete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434840" y="3072384"/>
            <a:ext cx="42976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3118104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deleted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080760" y="3118104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</a:rPr>
              <a:t>Soft-delete flag — documents are never hard-removed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434840" y="3730752"/>
            <a:ext cx="4297680" cy="1005840"/>
          </a:xfrm>
          <a:prstGeom prst="rect">
            <a:avLst/>
          </a:prstGeom>
          <a:solidFill>
            <a:srgbClr val="ECFDF5"/>
          </a:solidFill>
          <a:ln w="12700">
            <a:solidFill>
              <a:srgbClr val="00684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544568" y="3803904"/>
            <a:ext cx="4078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operation_logs 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1A1A2E"/>
                </a:solidFill>
              </a:rPr>
              <a:t>links to all 6 fleet collections via </a:t>
            </a:r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target_id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1A1A2E"/>
                </a:solidFill>
              </a:rPr>
              <a:t> — every insert / update / delete produces exactly one WAL-style entry, used to measure replication delay and drive reconciliation.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6848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0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Operation Log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59436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DFC8"/>
                </a:solidFill>
              </a:rPr>
              <a:t>Every insert / update / delete produces exactly one entry in operation_logs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058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848"/>
                </a:solidFill>
              </a:rPr>
              <a:t>Key Fields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4297680" cy="420624"/>
          </a:xfrm>
          <a:prstGeom prst="rect">
            <a:avLst/>
          </a:prstGeom>
          <a:solidFill>
            <a:srgbClr val="E8F5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38988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log_index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94560" y="1389888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</a:rPr>
              <a:t>Global monotonic counter (Raft-style)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65760" y="1828800"/>
            <a:ext cx="42976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865376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leader_write_time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194560" y="1865376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</a:rPr>
              <a:t>UTC — when PRIMARY committed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65760" y="2304288"/>
            <a:ext cx="4297680" cy="420624"/>
          </a:xfrm>
          <a:prstGeom prst="rect">
            <a:avLst/>
          </a:prstGeom>
          <a:solidFill>
            <a:srgbClr val="E8F5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340864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follower_visible_time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194560" y="2340864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</a:rPr>
              <a:t>UTC — when SECONDARY showed version_after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65760" y="2779776"/>
            <a:ext cx="42976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816352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replication_delay_ms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194560" y="2816352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</a:rPr>
              <a:t>follower_visible_time − leader_write_time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" y="3255264"/>
            <a:ext cx="4297680" cy="420624"/>
          </a:xfrm>
          <a:prstGeom prst="rect">
            <a:avLst/>
          </a:prstGeom>
          <a:solidFill>
            <a:srgbClr val="E8F5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329184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version_before / after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94560" y="3291840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</a:rPr>
              <a:t>Document version before and after write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65760" y="3730752"/>
            <a:ext cx="42976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76732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write_concern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194560" y="3767328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</a:rPr>
              <a:t>synchronous (majority) or asynchronous (1)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65760" y="4206240"/>
            <a:ext cx="4297680" cy="420624"/>
          </a:xfrm>
          <a:prstGeom prst="rect">
            <a:avLst/>
          </a:prstGeom>
          <a:solidFill>
            <a:srgbClr val="E8F5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242816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194560" y="4242816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</a:rPr>
              <a:t>pending_follower → visible_on_follower / timeout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029200" y="100584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848"/>
                </a:solidFill>
              </a:rPr>
              <a:t>Log Entry Lifecycle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0" y="1389888"/>
            <a:ext cx="2743200" cy="640080"/>
          </a:xfrm>
          <a:prstGeom prst="rect">
            <a:avLst/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486400" y="138988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pending_follower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858000" y="2029968"/>
            <a:ext cx="0" cy="365760"/>
          </a:xfrm>
          <a:prstGeom prst="line">
            <a:avLst/>
          </a:prstGeom>
          <a:noFill/>
          <a:ln w="19050">
            <a:solidFill>
              <a:srgbClr val="00684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00600" y="207568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06848"/>
                </a:solidFill>
              </a:rPr>
              <a:t>secondary.version ≥ version_after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486400" y="2395728"/>
            <a:ext cx="2743200" cy="640080"/>
          </a:xfrm>
          <a:prstGeom prst="rect">
            <a:avLst/>
          </a:prstGeom>
          <a:solidFill>
            <a:srgbClr val="ECFDF5"/>
          </a:solidFill>
          <a:ln w="19050">
            <a:solidFill>
              <a:srgbClr val="00684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5486400" y="239572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visible_on_follower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29600" y="1709928"/>
            <a:ext cx="365760" cy="0"/>
          </a:xfrm>
          <a:prstGeom prst="line">
            <a:avLst/>
          </a:prstGeom>
          <a:noFill/>
          <a:ln w="19050">
            <a:solidFill>
              <a:srgbClr val="DC2626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8275320" y="157276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C2626"/>
                </a:solidFill>
              </a:rPr>
              <a:t>poll timeout (5 s)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5486400" y="3291840"/>
            <a:ext cx="2743200" cy="54864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5486400" y="32918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timeout → reconciler retries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858000" y="3035808"/>
            <a:ext cx="0" cy="256032"/>
          </a:xfrm>
          <a:prstGeom prst="line">
            <a:avLst/>
          </a:prstGeom>
          <a:noFill/>
          <a:ln w="12700">
            <a:solidFill>
              <a:srgbClr val="DC2626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4846320" y="303580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C2626"/>
                </a:solidFill>
              </a:rPr>
              <a:t>not visible after 5s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4983480" y="4023360"/>
            <a:ext cx="3794760" cy="822960"/>
          </a:xfrm>
          <a:prstGeom prst="rect">
            <a:avLst/>
          </a:prstGeom>
          <a:solidFill>
            <a:srgbClr val="E8F5F0"/>
          </a:solidFill>
          <a:ln w="6350">
            <a:solidFill>
              <a:srgbClr val="00684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074920" y="4041648"/>
            <a:ext cx="3611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6848"/>
                </a:solidFill>
              </a:rPr>
              <a:t>Synchronous: </a:t>
            </a:r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</a:rPr>
              <a:t>closed inline before HTTP response
</a:t>
            </a:r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Asynchronous: </a:t>
            </a:r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</a:rPr>
              <a:t>closed by background reconciler (every 1 s)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6848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0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Experiment 1 — Synchronous Replication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59436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DFC8"/>
                </a:solidFill>
              </a:rPr>
              <a:t>GPS position written with w=majority  ·  collection: positions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2412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</a:rPr>
              <a:t>PRIMARY does not return ok until SECONDARY replays the oplog entry and acknowledges. Client sees the full round-trip latency as the write cost.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65760" y="148132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6848"/>
                </a:solidFill>
              </a:rPr>
              <a:t>166.4 ms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365760" y="204825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Total write duration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423160" y="148132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A86B"/>
                </a:solidFill>
              </a:rPr>
              <a:t>~159.8 ms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2423160" y="204825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SECONDARY apply + ACK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480560" y="148132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97706"/>
                </a:solidFill>
              </a:rPr>
              <a:t>&lt; 4 ms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480560" y="204825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Each network leg (one-way)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37960" y="148132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6848"/>
                </a:solidFill>
              </a:rPr>
              <a:t>0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537960" y="204825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Stale reads possible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359152"/>
            <a:ext cx="8412480" cy="566928"/>
          </a:xfrm>
          <a:prstGeom prst="rect">
            <a:avLst/>
          </a:prstGeom>
          <a:solidFill>
            <a:srgbClr val="E8F5F0"/>
          </a:solidFill>
          <a:ln w="10160">
            <a:solidFill>
              <a:srgbClr val="00684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2359152"/>
            <a:ext cx="64008" cy="566928"/>
          </a:xfrm>
          <a:prstGeom prst="rect">
            <a:avLst/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0352" y="2359152"/>
            <a:ext cx="8183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6848"/>
                </a:solidFill>
              </a:rPr>
              <a:t>Key observation:  </a:t>
            </a:r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</a:rPr>
              <a:t>PRIMARY lane shows a wide ~160 ms processing band blocked on SECONDARY's ACK — this directly visualises the synchronous replication penalty (the price of durability). The dominant cost is SECONDARY's oplog replay &amp; disk fsync, not the network — each hop is under 4 ms.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65760" y="3035808"/>
            <a:ext cx="8412480" cy="1783080"/>
          </a:xfrm>
          <a:prstGeom prst="rect">
            <a:avLst/>
          </a:prstGeom>
          <a:solidFill>
            <a:srgbClr val="0D1117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pic>
        <p:nvPicPr>
          <p:cNvPr id="18" name="Image 0" descr="/Users/mertkarahan/ceng465_project/presentation/ex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73936" y="3035808"/>
            <a:ext cx="5605272" cy="1783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6848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0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Experiment 2 — Eventual Consistency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59436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DFC8"/>
                </a:solidFill>
              </a:rPr>
              <a:t>Asynchronous write + secondaryDelaySecs=1  ·  collection: positions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2412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</a:rPr>
              <a:t>Asynchronous update (v1→v2) issued with w=1; ok returns in 10.6 ms without waiting for SECONDARY. Three secondary reads at 212 ms, 561 ms, 1163 ms from experiment start, interleaved with PRIMARY reference reads.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65760" y="148132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A86B"/>
                </a:solidFill>
              </a:rPr>
              <a:t>10.6 ms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365760" y="204825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Write returned (async)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423160" y="148132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</a:rPr>
              <a:t>2 / 3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2423160" y="204825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Stale secondary reads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480560" y="148132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97706"/>
                </a:solidFill>
              </a:rPr>
              <a:t>1163 ms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480560" y="204825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Consistency window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37960" y="148132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64748B"/>
                </a:solidFill>
              </a:rPr>
              <a:t>1 s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537960" y="204825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Artificial delay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395728"/>
            <a:ext cx="8412480" cy="731520"/>
          </a:xfrm>
          <a:prstGeom prst="rect">
            <a:avLst/>
          </a:prstGeom>
          <a:solidFill>
            <a:srgbClr val="E8F5F0"/>
          </a:solidFill>
          <a:ln w="10160">
            <a:solidFill>
              <a:srgbClr val="00684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2395728"/>
            <a:ext cx="64008" cy="731520"/>
          </a:xfrm>
          <a:prstGeom prst="rect">
            <a:avLst/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0352" y="2395728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848"/>
                </a:solidFill>
              </a:rPr>
              <a:t>Key observation:  </a:t>
            </a:r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</a:rPr>
              <a:t>PRIMARY already serves v2 at 222 ms while SECONDARY still answers v1 at 212 ms and 561 ms — 2 of 3 reads are stale. Only the 3rd secondary read, at 1163 ms, converges to v2: the system is inconsistent for ~1.16 s. secondaryDelaySecs=1 was set on the replica set purely to make this window observable on a LAN (real replication_delay_ms = 252 ms).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820773" y="3255264"/>
            <a:ext cx="5502454" cy="1837944"/>
          </a:xfrm>
          <a:prstGeom prst="rect">
            <a:avLst/>
          </a:prstGeom>
          <a:solidFill>
            <a:srgbClr val="0D1117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pic>
        <p:nvPicPr>
          <p:cNvPr id="18" name="Image 0" descr="/Users/mertkarahan/ceng465_project/presentation/exp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3925" y="3328416"/>
            <a:ext cx="5356150" cy="1691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6848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0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Experiments 3 &amp; 4 — Read-After-Write &amp; Monotonic Reads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4160520" cy="3840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005840"/>
            <a:ext cx="64008" cy="3840480"/>
          </a:xfrm>
          <a:prstGeom prst="rect">
            <a:avLst/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06070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A86B"/>
                </a:solidFill>
              </a:rPr>
              <a:t>Experiment 3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02920" y="129844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848"/>
                </a:solidFill>
              </a:rPr>
              <a:t>Read-After-Write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02920" y="1609344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collection: incidents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02920" y="192024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</a:rPr>
              <a:t>Incident inserted asynchronously. Two reads fired immediately: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02920" y="2304288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848"/>
                </a:solidFill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04672" y="230428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PRIMARY read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651760" y="230428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6848"/>
                </a:solidFill>
              </a:rPr>
              <a:t>1.11 ms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04672" y="257860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always fresh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20" y="2889504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</a:rPr>
              <a:t>⚠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04672" y="2889504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SECONDARY read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651760" y="288950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may return null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04672" y="3163824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if oplog not yet arrived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02920" y="3474720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848"/>
                </a:solidFill>
              </a:rPr>
              <a:t>✓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04672" y="347472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Secondary sync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651760" y="347472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6848"/>
                </a:solidFill>
              </a:rPr>
              <a:t>5 ms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04672" y="3749040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fast LAN catch-up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02920" y="4078224"/>
            <a:ext cx="3794760" cy="512064"/>
          </a:xfrm>
          <a:prstGeom prst="rect">
            <a:avLst/>
          </a:prstGeom>
          <a:solidFill>
            <a:srgbClr val="E8F5F0"/>
          </a:solidFill>
          <a:ln w="6350">
            <a:solidFill>
              <a:srgbClr val="00684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" y="4078224"/>
            <a:ext cx="3611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6848"/>
                </a:solidFill>
              </a:rPr>
              <a:t>Fix: route reads to PRIMARY for the writing session → dispatcher always sees own incident.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63440" y="1005840"/>
            <a:ext cx="4160520" cy="3840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63440" y="1005840"/>
            <a:ext cx="64008" cy="3840480"/>
          </a:xfrm>
          <a:prstGeom prst="rect">
            <a:avLst/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0" y="106070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A86B"/>
                </a:solidFill>
              </a:rPr>
              <a:t>Experiment 4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846320" y="129844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848"/>
                </a:solidFill>
              </a:rPr>
              <a:t>Monotonic Reads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846320" y="1609344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collection: shipments  ·  5 async writes (v1→v5)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46320" y="192024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</a:rPr>
              <a:t>Status progression: pending → in_transit → delivered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2304288"/>
          <a:ext cx="3794760" cy="1828800"/>
        </p:xfrm>
        <a:graphic>
          <a:graphicData uri="http://schemas.openxmlformats.org/drawingml/2006/table">
            <a:tbl>
              <a:tblPr/>
              <a:tblGrid>
                <a:gridCol w="1554480"/>
                <a:gridCol w="1280160"/>
                <a:gridCol w="9601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Read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8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Version seen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8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Monotonic?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84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#1 at 59 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848"/>
                          </a:solidFill>
                        </a:rPr>
                        <a:t>v5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848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#2 at 93 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848"/>
                          </a:solidFill>
                        </a:rPr>
                        <a:t>v5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848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#3 at 127 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848"/>
                          </a:solidFill>
                        </a:rPr>
                        <a:t>v5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848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#4 at 159 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848"/>
                          </a:solidFill>
                        </a:rPr>
                        <a:t>v5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848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#5 at 194 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848"/>
                          </a:solidFill>
                        </a:rPr>
                        <a:t>v5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848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 28"/>
          <p:cNvSpPr/>
          <p:nvPr/>
        </p:nvSpPr>
        <p:spPr>
          <a:xfrm>
            <a:off x="4846320" y="4187952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848"/>
                </a:solidFill>
              </a:rPr>
              <a:t>Replication delay: 13.14 ms  ·  Backward reads: 0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4846320" y="4425696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</a:rPr>
              <a:t>Single oplog stream → version can only increase on secondary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6848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0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Experiment 5 — Concurrent Writes: Propagation Order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59436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DFC8"/>
                </a:solidFill>
              </a:rPr>
              <a:t>2 threads × 3 asynchronous inserts simultaneously  ·  collection: vehicles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2412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</a:rPr>
              <a:t>PRIMARY serialises all concurrent writes through its oplog (log_index). SECONDARY must apply them in the same order.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65760" y="144475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6848"/>
                </a:solidFill>
              </a:rPr>
              <a:t>6 / 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365760" y="201168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Visible on secondary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423160" y="144475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A86B"/>
                </a:solidFill>
              </a:rPr>
              <a:t>10.7 ms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2423160" y="201168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Avg latency — User A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480560" y="144475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A86B"/>
                </a:solidFill>
              </a:rPr>
              <a:t>11.9 ms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480560" y="201168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Avg latency — User 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37960" y="144475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97706"/>
                </a:solidFill>
              </a:rPr>
              <a:t>43.9 ms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537960" y="201168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Oplog batch replication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304288"/>
            <a:ext cx="8412480" cy="658368"/>
          </a:xfrm>
          <a:prstGeom prst="rect">
            <a:avLst/>
          </a:prstGeom>
          <a:solidFill>
            <a:srgbClr val="E8F5F0"/>
          </a:solidFill>
          <a:ln w="10160">
            <a:solidFill>
              <a:srgbClr val="00684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3408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848"/>
                </a:solidFill>
              </a:rPr>
              <a:t>log_index sequence assigned by PRIMARY: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2688336"/>
            <a:ext cx="1143000" cy="201168"/>
          </a:xfrm>
          <a:prstGeom prst="roundRect">
            <a:avLst>
              <a:gd name="adj" fmla="val 18182"/>
            </a:avLst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68833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#696  CW-A1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1874520" y="2688336"/>
            <a:ext cx="1143000" cy="201168"/>
          </a:xfrm>
          <a:prstGeom prst="roundRect">
            <a:avLst>
              <a:gd name="adj" fmla="val 18182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74520" y="268833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#697  CW-B1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246120" y="2688336"/>
            <a:ext cx="1143000" cy="201168"/>
          </a:xfrm>
          <a:prstGeom prst="roundRect">
            <a:avLst>
              <a:gd name="adj" fmla="val 18182"/>
            </a:avLst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46120" y="268833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#698  CW-A2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617720" y="2688336"/>
            <a:ext cx="1143000" cy="201168"/>
          </a:xfrm>
          <a:prstGeom prst="roundRect">
            <a:avLst>
              <a:gd name="adj" fmla="val 18182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17720" y="268833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#699  CW-B2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989320" y="2688336"/>
            <a:ext cx="1143000" cy="201168"/>
          </a:xfrm>
          <a:prstGeom prst="roundRect">
            <a:avLst>
              <a:gd name="adj" fmla="val 18182"/>
            </a:avLst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89320" y="268833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#700  CW-A3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7360920" y="2688336"/>
            <a:ext cx="1143000" cy="201168"/>
          </a:xfrm>
          <a:prstGeom prst="roundRect">
            <a:avLst>
              <a:gd name="adj" fmla="val 18182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60920" y="268833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#701  CW-B3</a:t>
            </a:r>
            <a:endParaRPr lang="en-US" sz="8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035808"/>
          <a:ext cx="8412480" cy="1005840"/>
        </p:xfrm>
        <a:graphic>
          <a:graphicData uri="http://schemas.openxmlformats.org/drawingml/2006/table">
            <a:tbl>
              <a:tblPr/>
              <a:tblGrid>
                <a:gridCol w="2743200"/>
                <a:gridCol w="2103120"/>
                <a:gridCol w="2103120"/>
                <a:gridCol w="146304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Write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8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log_index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8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Visible on SECONDARY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8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Order preserved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84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CW-A1, CW-A2, CW-A3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696, 698, 700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6848"/>
                          </a:solidFill>
                        </a:rPr>
                        <a:t>✓  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6848"/>
                          </a:solidFill>
                        </a:rPr>
                        <a:t>✓  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CW-B1, CW-B2, CW-B3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697, 699, 701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6848"/>
                          </a:solidFill>
                        </a:rPr>
                        <a:t>✓  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6848"/>
                          </a:solidFill>
                        </a:rPr>
                        <a:t>✓  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Shape 26"/>
          <p:cNvSpPr/>
          <p:nvPr/>
        </p:nvSpPr>
        <p:spPr>
          <a:xfrm>
            <a:off x="365760" y="4151376"/>
            <a:ext cx="8412480" cy="566928"/>
          </a:xfrm>
          <a:prstGeom prst="rect">
            <a:avLst/>
          </a:prstGeom>
          <a:solidFill>
            <a:srgbClr val="E8F5F0"/>
          </a:solidFill>
          <a:ln w="10160">
            <a:solidFill>
              <a:srgbClr val="00684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65760" y="4151376"/>
            <a:ext cx="64008" cy="566928"/>
          </a:xfrm>
          <a:prstGeom prst="rect">
            <a:avLst/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30352" y="4151376"/>
            <a:ext cx="8183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848"/>
                </a:solidFill>
              </a:rPr>
              <a:t>Key observation:  </a:t>
            </a:r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</a:rPr>
              <a:t>MongoDB's oplog is append-only. It is impossible for log_index=698 to appear on SECONDARY before log_index=697. Write order is always preserved.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6848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0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Testing &amp; Performance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241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6848"/>
                </a:solidFill>
              </a:rPr>
              <a:t>Automated Test Suite  (test_replication.py)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65760" y="137160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371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49808" y="13716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Basic CRUD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231136" y="137160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Insert→Update→Delete, version matches on secondary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1837944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8379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9808" y="183794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Fleet Static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231136" y="1837944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vehicles/drivers/depots replicate to correct collection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5760" y="2304288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304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49808" y="230428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Shipment Monotonic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231136" y="230428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Status sequence always non-decreasing on secondary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65760" y="2770632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770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9808" y="277063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Position Burst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231136" y="277063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10 GPS inserts — replication delay measured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65760" y="3236976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32369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49808" y="323697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Incident RAW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231136" y="3236976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PRIMARY read always returns new document instantly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65760" y="370332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7033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49808" y="37033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Async Window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231136" y="370332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Stale reads observed; all visible after 2 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65760" y="4169664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1696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49808" y="416966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Op-Log Routing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231136" y="4169664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target_collection correctly recorded per insert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846320" y="102412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6848"/>
                </a:solidFill>
              </a:rPr>
              <a:t>Performance Measurements  (LAN)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371600"/>
          <a:ext cx="3931920" cy="2743200"/>
        </p:xfrm>
        <a:graphic>
          <a:graphicData uri="http://schemas.openxmlformats.org/drawingml/2006/table">
            <a:tbl>
              <a:tblPr/>
              <a:tblGrid>
                <a:gridCol w="2560320"/>
                <a:gridCol w="1371600"/>
              </a:tblGrid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Metric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8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Value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848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One-way → PRIMARY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9.6 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One-way → SECONDARY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2.2 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848"/>
                          </a:solidFill>
                        </a:rPr>
                        <a:t>Synchronous write total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848"/>
                          </a:solidFill>
                        </a:rPr>
                        <a:t>61.8 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97706"/>
                          </a:solidFill>
                        </a:rPr>
                        <a:t>Asynchronous write total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97706"/>
                          </a:solidFill>
                        </a:rPr>
                        <a:t>9–12 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Sync overhead over async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~52 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Oplog (no delay)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10–44 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Oplog (1 s delay)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326–1281 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 32"/>
          <p:cNvSpPr/>
          <p:nvPr/>
        </p:nvSpPr>
        <p:spPr>
          <a:xfrm>
            <a:off x="4846320" y="411480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</a:rPr>
              <a:t>Dominant cost: SECONDARY disk acknowledgement (~46 ms), not network (&lt;5 ms one-way)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365760" y="4590288"/>
            <a:ext cx="4114800" cy="347472"/>
          </a:xfrm>
          <a:prstGeom prst="rect">
            <a:avLst/>
          </a:prstGeom>
          <a:solidFill>
            <a:srgbClr val="E8F5F0"/>
          </a:solidFill>
          <a:ln w="6350">
            <a:solidFill>
              <a:srgbClr val="006848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57200" y="459028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6848"/>
                </a:solidFill>
              </a:rPr>
              <a:t>Manual failure test:  </a:t>
            </a:r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</a:rPr>
              <a:t>sync rejected offline → async pending_follower → secondary back → reconciler closes log as visible_on_follower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68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Conclusion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ADFC8"/>
                </a:solidFill>
              </a:rPr>
              <a:t>Five consistency scenarios demonstrated on real hardware — no containers, no simulated latency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8229600" cy="27432"/>
          </a:xfrm>
          <a:prstGeom prst="rect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71600"/>
            <a:ext cx="347472" cy="347472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1325880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ADFC8"/>
                </a:solidFill>
              </a:rPr>
              <a:t>Synchronous Replication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1627632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FAE5"/>
                </a:solidFill>
              </a:rPr>
              <a:t>61.8 ms total write — both nodes consistent before client receives ok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048256"/>
            <a:ext cx="347472" cy="347472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048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0120" y="2002536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ADFC8"/>
                </a:solidFill>
              </a:rPr>
              <a:t>Eventual Consistency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60120" y="2304288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FAE5"/>
                </a:solidFill>
              </a:rPr>
              <a:t>2/3 reads stale; system converges within 1281 ms (1 s artificial delay)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724912"/>
            <a:ext cx="347472" cy="347472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7249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60120" y="2679192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ADFC8"/>
                </a:solidFill>
              </a:rPr>
              <a:t>Read-After-Write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2980944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FAE5"/>
                </a:solidFill>
              </a:rPr>
              <a:t>PRIMARY read 1.11 ms — always fresh; safety-critical data never served stale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401568"/>
            <a:ext cx="347472" cy="347472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4015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60120" y="3355848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ADFC8"/>
                </a:solidFill>
              </a:rPr>
              <a:t>Monotonic Reads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60120" y="3657600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FAE5"/>
                </a:solidFill>
              </a:rPr>
              <a:t>Versions [5,5,5,5,5] — oplog ordering makes backward reads impossible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4078224"/>
            <a:ext cx="347472" cy="347472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40782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60120" y="4032504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ADFC8"/>
                </a:solidFill>
              </a:rPr>
              <a:t>Concurrent Writes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60120" y="4334256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FAE5"/>
                </a:solidFill>
              </a:rPr>
              <a:t>log_index 696–701 — write order preserved exactly on SECONDARY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05038"/>
          </a:solidFill>
          <a:ln w="12700">
            <a:solidFill>
              <a:srgbClr val="00503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482803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DC8A8"/>
                </a:solidFill>
              </a:rPr>
              <a:t>The operation_logs collection makes replication delay a first-class measured metric — not an invisible side effect.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Replication in a Single-Leader Environment</dc:title>
  <dc:subject>PptxGenJS Presentation</dc:subject>
  <dc:creator>Mert Karahan, Dogukan Topcu</dc:creator>
  <cp:lastModifiedBy>Mert Karahan, Dogukan Topcu</cp:lastModifiedBy>
  <cp:revision>1</cp:revision>
  <dcterms:created xsi:type="dcterms:W3CDTF">2026-06-08T19:12:51Z</dcterms:created>
  <dcterms:modified xsi:type="dcterms:W3CDTF">2026-06-08T19:12:51Z</dcterms:modified>
</cp:coreProperties>
</file>