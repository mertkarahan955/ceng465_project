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30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47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29674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6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64592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 Replication in a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AADFC8"/>
                </a:solidFill>
              </a:rPr>
              <a:t>Single-Leader Environment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2267712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B0D8CC"/>
                </a:solidFill>
              </a:rPr>
              <a:t>MongoDB Replica Set  ·  Python Fleet Management Demo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2743200"/>
            <a:ext cx="2743200" cy="36576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Text 5"/>
          <p:cNvSpPr/>
          <p:nvPr/>
        </p:nvSpPr>
        <p:spPr>
          <a:xfrm>
            <a:off x="640080" y="2880360"/>
            <a:ext cx="7863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Mert Karahan</a:t>
            </a:r>
            <a:r>
              <a:rPr lang="en-US" sz="1400" dirty="0">
                <a:solidFill>
                  <a:srgbClr val="AADFC8"/>
                </a:solidFill>
              </a:rPr>
              <a:t>  300201050</a:t>
            </a:r>
            <a:r>
              <a:rPr lang="en-US" sz="1400" dirty="0">
                <a:solidFill>
                  <a:srgbClr val="FFFFFF"/>
                </a:solidFill>
              </a:rPr>
              <a:t>     |     </a:t>
            </a:r>
            <a:r>
              <a:rPr lang="en-US" sz="1400" b="1" dirty="0">
                <a:solidFill>
                  <a:srgbClr val="FFFFFF"/>
                </a:solidFill>
              </a:rPr>
              <a:t>Doğukan Topçu</a:t>
            </a:r>
            <a:r>
              <a:rPr lang="en-US" sz="1400" dirty="0">
                <a:solidFill>
                  <a:srgbClr val="AADFC8"/>
                </a:solidFill>
              </a:rPr>
              <a:t>  290201036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3375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7DC8A8"/>
                </a:solidFill>
              </a:rPr>
              <a:t>İzmir Institute of Technology  ·  CENG 465 — Principles of Data-Intensive Systems  ·  June 2026</a:t>
            </a:r>
            <a:endParaRPr lang="en-US" sz="1100" dirty="0"/>
          </a:p>
        </p:txBody>
      </p:sp>
      <p:pic>
        <p:nvPicPr>
          <p:cNvPr id="10" name="Claude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378" y="4368687"/>
            <a:ext cx="395431" cy="395431"/>
          </a:xfrm>
          <a:prstGeom prst="rect">
            <a:avLst/>
          </a:prstGeom>
        </p:spPr>
      </p:pic>
      <p:sp>
        <p:nvSpPr>
          <p:cNvPr id="11" name="PoweredBy"/>
          <p:cNvSpPr/>
          <p:nvPr/>
        </p:nvSpPr>
        <p:spPr>
          <a:xfrm>
            <a:off x="6754589" y="4320540"/>
            <a:ext cx="2028862" cy="4917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7DC8A8"/>
                </a:solidFill>
              </a:rPr>
              <a:t>Powered by </a:t>
            </a:r>
            <a:r>
              <a:rPr lang="en-US" sz="900" b="1" dirty="0">
                <a:solidFill>
                  <a:srgbClr val="D97656"/>
                </a:solidFill>
              </a:rPr>
              <a:t>Claude Code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848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System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848"/>
                </a:solidFill>
              </a:rPr>
              <a:t>Physical Topology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389888"/>
            <a:ext cx="3749040" cy="658368"/>
          </a:xfrm>
          <a:prstGeom prst="rect">
            <a:avLst/>
          </a:prstGeom>
          <a:solidFill>
            <a:srgbClr val="FFF7ED"/>
          </a:solidFill>
          <a:ln w="15240">
            <a:solidFill>
              <a:srgbClr val="F9731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6" name="Text 4"/>
          <p:cNvSpPr/>
          <p:nvPr/>
        </p:nvSpPr>
        <p:spPr>
          <a:xfrm>
            <a:off x="502920" y="1389888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Control Node  </a:t>
            </a:r>
            <a:r>
              <a:rPr lang="en-US" sz="1000" dirty="0">
                <a:solidFill>
                  <a:srgbClr val="64748B"/>
                </a:solidFill>
              </a:rPr>
              <a:t>Flask / port 5001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286000" y="2048256"/>
            <a:ext cx="0" cy="274320"/>
          </a:xfrm>
          <a:prstGeom prst="line">
            <a:avLst/>
          </a:prstGeom>
          <a:noFill/>
          <a:ln w="19050">
            <a:solidFill>
              <a:srgbClr val="006848"/>
            </a:solidFill>
            <a:prstDash val="sysDash"/>
          </a:ln>
        </p:spPr>
        <p:txBody>
          <a:bodyPr/>
          <a:lstStyle/>
          <a:p>
            <a:endParaRPr lang="en-TR"/>
          </a:p>
        </p:txBody>
      </p:sp>
      <p:sp>
        <p:nvSpPr>
          <p:cNvPr id="8" name="Shape 6"/>
          <p:cNvSpPr/>
          <p:nvPr/>
        </p:nvSpPr>
        <p:spPr>
          <a:xfrm>
            <a:off x="411480" y="2322576"/>
            <a:ext cx="3749040" cy="658368"/>
          </a:xfrm>
          <a:prstGeom prst="rect">
            <a:avLst/>
          </a:prstGeom>
          <a:solidFill>
            <a:srgbClr val="ECFDF5"/>
          </a:solidFill>
          <a:ln w="19050">
            <a:solidFill>
              <a:srgbClr val="0068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9" name="Text 7"/>
          <p:cNvSpPr/>
          <p:nvPr/>
        </p:nvSpPr>
        <p:spPr>
          <a:xfrm>
            <a:off x="502920" y="232257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848"/>
                </a:solidFill>
              </a:rPr>
              <a:t>PRIMARY  </a:t>
            </a: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mongo-</a:t>
            </a:r>
            <a:r>
              <a:rPr lang="en-US" sz="950" dirty="0" err="1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primary.lan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60520" y="2651760"/>
            <a:ext cx="502920" cy="0"/>
          </a:xfrm>
          <a:prstGeom prst="line">
            <a:avLst/>
          </a:prstGeom>
          <a:noFill/>
          <a:ln w="1905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1" name="Text 9"/>
          <p:cNvSpPr/>
          <p:nvPr/>
        </p:nvSpPr>
        <p:spPr>
          <a:xfrm>
            <a:off x="4160520" y="239572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oplog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663440" y="2322576"/>
            <a:ext cx="3749040" cy="658368"/>
          </a:xfrm>
          <a:prstGeom prst="rect">
            <a:avLst/>
          </a:prstGeom>
          <a:solidFill>
            <a:srgbClr val="EFF6FF"/>
          </a:solidFill>
          <a:ln w="19050">
            <a:solidFill>
              <a:srgbClr val="3B82F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13" name="Text 11"/>
          <p:cNvSpPr/>
          <p:nvPr/>
        </p:nvSpPr>
        <p:spPr>
          <a:xfrm>
            <a:off x="4754880" y="2322576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563EB"/>
                </a:solidFill>
              </a:rPr>
              <a:t>SECONDARY  </a:t>
            </a:r>
            <a:r>
              <a:rPr lang="en-US" sz="95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mongo-secondary.lan  192.168.88.70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11480" y="3035808"/>
            <a:ext cx="8001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4748B"/>
                </a:solidFill>
              </a:rPr>
              <a:t>Non-voting (votes=0, priority=0) — PRIMARY always writable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10515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848"/>
                </a:solidFill>
              </a:rPr>
              <a:t>Replication Modes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663440" y="1389888"/>
            <a:ext cx="3749040" cy="804672"/>
          </a:xfrm>
          <a:prstGeom prst="rect">
            <a:avLst/>
          </a:prstGeom>
          <a:solidFill>
            <a:srgbClr val="ECFDF5"/>
          </a:solidFill>
          <a:ln w="12700">
            <a:solidFill>
              <a:srgbClr val="00684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17" name="Shape 15"/>
          <p:cNvSpPr/>
          <p:nvPr/>
        </p:nvSpPr>
        <p:spPr>
          <a:xfrm>
            <a:off x="4663440" y="1389888"/>
            <a:ext cx="64008" cy="804672"/>
          </a:xfrm>
          <a:prstGeom prst="rect">
            <a:avLst/>
          </a:prstGeom>
          <a:solidFill>
            <a:srgbClr val="006848"/>
          </a:solidFill>
          <a:ln w="1270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Text 16"/>
          <p:cNvSpPr/>
          <p:nvPr/>
        </p:nvSpPr>
        <p:spPr>
          <a:xfrm>
            <a:off x="4800600" y="1408176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848"/>
                </a:solidFill>
              </a:rPr>
              <a:t>Synchronous  </a:t>
            </a: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(w=majority)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800600" y="1700784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PRIMARY waits for SECONDARY ACK before returning ok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2249424"/>
            <a:ext cx="3749040" cy="804672"/>
          </a:xfrm>
          <a:prstGeom prst="rect">
            <a:avLst/>
          </a:prstGeom>
          <a:solidFill>
            <a:srgbClr val="FFFBEB"/>
          </a:solidFill>
          <a:ln w="12700">
            <a:solidFill>
              <a:srgbClr val="D97706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sp>
        <p:nvSpPr>
          <p:cNvPr id="21" name="Shape 19"/>
          <p:cNvSpPr/>
          <p:nvPr/>
        </p:nvSpPr>
        <p:spPr>
          <a:xfrm>
            <a:off x="4663440" y="2249424"/>
            <a:ext cx="64008" cy="80467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2" name="Text 20"/>
          <p:cNvSpPr/>
          <p:nvPr/>
        </p:nvSpPr>
        <p:spPr>
          <a:xfrm>
            <a:off x="4800600" y="226771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97706"/>
                </a:solidFill>
              </a:rPr>
              <a:t>Asynchronous  </a:t>
            </a: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(w=1)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00600" y="256032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</a:rPr>
              <a:t>PRIMARY returns immediately; SECONDARY applies oplog later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11480" y="3364992"/>
            <a:ext cx="8321040" cy="640080"/>
          </a:xfrm>
          <a:prstGeom prst="rect">
            <a:avLst/>
          </a:prstGeom>
          <a:solidFill>
            <a:srgbClr val="E8F5F0"/>
          </a:solidFill>
          <a:ln w="635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5" name="Text 23"/>
          <p:cNvSpPr/>
          <p:nvPr/>
        </p:nvSpPr>
        <p:spPr>
          <a:xfrm>
            <a:off x="548640" y="336499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6848"/>
                </a:solidFill>
              </a:rPr>
              <a:t>Operation Log  </a:t>
            </a:r>
            <a:r>
              <a:rPr lang="en-US" sz="1150" dirty="0">
                <a:solidFill>
                  <a:srgbClr val="1A1A2E"/>
                </a:solidFill>
              </a:rPr>
              <a:t>Every write records  </a:t>
            </a:r>
            <a:r>
              <a:rPr lang="en-US" sz="1050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leader_write_time  ·  follower_visible_time  ·  replication_delay_ms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848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" name="Text 1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Schema Design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594360"/>
            <a:ext cx="8321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DFC8"/>
                </a:solidFill>
              </a:rPr>
              <a:t>6 Fleet Collections  ·  Shared Document Envelope  ·  version field as reconciliation key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1051560"/>
            <a:ext cx="3703320" cy="3794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pic>
        <p:nvPicPr>
          <p:cNvPr id="6" name="Image 0" descr="/Users/mertkarahan/ceng465_project/presentation/erd.png"/>
          <p:cNvPicPr>
            <a:picLocks noChangeAspect="1"/>
          </p:cNvPicPr>
          <p:nvPr/>
        </p:nvPicPr>
        <p:blipFill>
          <a:blip r:embed="rId3"/>
          <a:srcRect t="-1299" b="-1299"/>
          <a:stretch/>
        </p:blipFill>
        <p:spPr>
          <a:xfrm>
            <a:off x="502920" y="1143000"/>
            <a:ext cx="3520440" cy="3611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11480" y="4882896"/>
            <a:ext cx="3703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64748B"/>
                </a:solidFill>
              </a:rPr>
              <a:t>Figure: ER diagram — vehicles, drivers, depots, shipments, positions, incidents, operation_logs</a:t>
            </a:r>
            <a:endParaRPr lang="en-US" sz="750" dirty="0"/>
          </a:p>
        </p:txBody>
      </p:sp>
      <p:sp>
        <p:nvSpPr>
          <p:cNvPr id="8" name="Text 5"/>
          <p:cNvSpPr/>
          <p:nvPr/>
        </p:nvSpPr>
        <p:spPr>
          <a:xfrm>
            <a:off x="4434840" y="102412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848"/>
                </a:solidFill>
              </a:rPr>
              <a:t>Shared Document Envelope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434840" y="1371600"/>
            <a:ext cx="4297680" cy="502920"/>
          </a:xfrm>
          <a:prstGeom prst="rect">
            <a:avLst/>
          </a:prstGeom>
          <a:solidFill>
            <a:srgbClr val="E8F5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Text 7"/>
          <p:cNvSpPr/>
          <p:nvPr/>
        </p:nvSpPr>
        <p:spPr>
          <a:xfrm>
            <a:off x="4526280" y="141732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/ value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080760" y="14173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Logical id + domain payload (vehicle, shipment, position, …)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4434840" y="1938528"/>
            <a:ext cx="4297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3" name="Text 10"/>
          <p:cNvSpPr/>
          <p:nvPr/>
        </p:nvSpPr>
        <p:spPr>
          <a:xfrm>
            <a:off x="4526280" y="1984248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080760" y="1984248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Monotonic counter — the reconciliation key for async (w=1) writes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434840" y="2505456"/>
            <a:ext cx="4297680" cy="502920"/>
          </a:xfrm>
          <a:prstGeom prst="rect">
            <a:avLst/>
          </a:prstGeom>
          <a:solidFill>
            <a:srgbClr val="E8F5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6" name="Text 13"/>
          <p:cNvSpPr/>
          <p:nvPr/>
        </p:nvSpPr>
        <p:spPr>
          <a:xfrm>
            <a:off x="4526280" y="2551176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last_updated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080760" y="2551176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UTC timestamp set on every insert / update / delete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434840" y="3072384"/>
            <a:ext cx="42976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9" name="Text 16"/>
          <p:cNvSpPr/>
          <p:nvPr/>
        </p:nvSpPr>
        <p:spPr>
          <a:xfrm>
            <a:off x="4526280" y="311810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deleted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6080760" y="3118104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Soft-delete flag — documents are never hard-removed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4434840" y="3730752"/>
            <a:ext cx="4297680" cy="1005840"/>
          </a:xfrm>
          <a:prstGeom prst="rect">
            <a:avLst/>
          </a:prstGeom>
          <a:solidFill>
            <a:srgbClr val="ECFDF5"/>
          </a:solidFill>
          <a:ln w="1270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2" name="Text 19"/>
          <p:cNvSpPr/>
          <p:nvPr/>
        </p:nvSpPr>
        <p:spPr>
          <a:xfrm>
            <a:off x="4544568" y="3803904"/>
            <a:ext cx="40782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95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operation_logs </a:t>
            </a:r>
            <a:r>
              <a:rPr lang="en-US" sz="950" dirty="0">
                <a:solidFill>
                  <a:srgbClr val="1A1A2E"/>
                </a:solidFill>
              </a:rPr>
              <a:t>links to all 6 fleet collections via </a:t>
            </a:r>
            <a:r>
              <a:rPr lang="en-US" sz="95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target_id</a:t>
            </a:r>
            <a:r>
              <a:rPr lang="en-US" sz="950" dirty="0">
                <a:solidFill>
                  <a:srgbClr val="1A1A2E"/>
                </a:solidFill>
              </a:rPr>
              <a:t> — every insert / update / delete produces exactly one WAL-style entry, used to measure replication delay and drive reconciliation.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848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" name="Text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Operation Log — Collections &amp; Consistency Map</a:t>
            </a:r>
            <a:endParaRPr lang="en-US" dirty="0"/>
          </a:p>
        </p:txBody>
      </p:sp>
      <p:sp>
        <p:nvSpPr>
          <p:cNvPr id="4" name="Text"/>
          <p:cNvSpPr/>
          <p:nvPr/>
        </p:nvSpPr>
        <p:spPr>
          <a:xfrm>
            <a:off x="411480" y="5943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AADFC8"/>
                </a:solidFill>
              </a:rPr>
              <a:t>Each collection maps to a distinct access pattern and consistency experiment</a:t>
            </a:r>
            <a:endParaRPr lang="en-US" dirty="0"/>
          </a:p>
        </p:txBody>
      </p:sp>
      <p:sp>
        <p:nvSpPr>
          <p:cNvPr id="5" name="Text"/>
          <p:cNvSpPr/>
          <p:nvPr/>
        </p:nvSpPr>
        <p:spPr>
          <a:xfrm>
            <a:off x="274320" y="969192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848"/>
                </a:solidFill>
              </a:rPr>
              <a:t>Collections &amp; Access Patterns</a:t>
            </a:r>
            <a:endParaRPr lang="en-US" dirty="0"/>
          </a:p>
        </p:txBody>
      </p:sp>
      <p:sp>
        <p:nvSpPr>
          <p:cNvPr id="6" name="BG"/>
          <p:cNvSpPr/>
          <p:nvPr/>
        </p:nvSpPr>
        <p:spPr>
          <a:xfrm>
            <a:off x="274320" y="1261800"/>
            <a:ext cx="4297680" cy="329184"/>
          </a:xfrm>
          <a:prstGeom prst="rect">
            <a:avLst/>
          </a:prstGeom>
          <a:solidFill>
            <a:srgbClr val="006848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7" name="Text"/>
          <p:cNvSpPr/>
          <p:nvPr/>
        </p:nvSpPr>
        <p:spPr>
          <a:xfrm>
            <a:off x="347472" y="1289232"/>
            <a:ext cx="1073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Collection</a:t>
            </a:r>
            <a:endParaRPr lang="en-US" dirty="0"/>
          </a:p>
        </p:txBody>
      </p:sp>
      <p:sp>
        <p:nvSpPr>
          <p:cNvPr id="8" name="Text"/>
          <p:cNvSpPr/>
          <p:nvPr/>
        </p:nvSpPr>
        <p:spPr>
          <a:xfrm>
            <a:off x="1567472" y="1289232"/>
            <a:ext cx="553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Write Freq.</a:t>
            </a:r>
            <a:endParaRPr lang="en-US" dirty="0"/>
          </a:p>
        </p:txBody>
      </p:sp>
      <p:sp>
        <p:nvSpPr>
          <p:cNvPr id="9" name="Text"/>
          <p:cNvSpPr/>
          <p:nvPr/>
        </p:nvSpPr>
        <p:spPr>
          <a:xfrm>
            <a:off x="2267472" y="1289232"/>
            <a:ext cx="138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Consistency Need</a:t>
            </a:r>
            <a:endParaRPr lang="en-US" dirty="0"/>
          </a:p>
        </p:txBody>
      </p:sp>
      <p:sp>
        <p:nvSpPr>
          <p:cNvPr id="10" name="Text"/>
          <p:cNvSpPr/>
          <p:nvPr/>
        </p:nvSpPr>
        <p:spPr>
          <a:xfrm>
            <a:off x="3795152" y="1289232"/>
            <a:ext cx="703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Experiment</a:t>
            </a:r>
            <a:endParaRPr lang="en-US" dirty="0"/>
          </a:p>
        </p:txBody>
      </p:sp>
      <p:sp>
        <p:nvSpPr>
          <p:cNvPr id="11" name="BG"/>
          <p:cNvSpPr/>
          <p:nvPr/>
        </p:nvSpPr>
        <p:spPr>
          <a:xfrm>
            <a:off x="274320" y="1590984"/>
            <a:ext cx="4297680" cy="420624"/>
          </a:xfrm>
          <a:prstGeom prst="rect">
            <a:avLst/>
          </a:prstGeom>
          <a:solidFill>
            <a:srgbClr val="E8F5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Text"/>
          <p:cNvSpPr/>
          <p:nvPr/>
        </p:nvSpPr>
        <p:spPr>
          <a:xfrm>
            <a:off x="347472" y="1618416"/>
            <a:ext cx="1073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vehicles</a:t>
            </a:r>
            <a:endParaRPr lang="en-US" dirty="0"/>
          </a:p>
        </p:txBody>
      </p:sp>
      <p:sp>
        <p:nvSpPr>
          <p:cNvPr id="13" name="Text"/>
          <p:cNvSpPr/>
          <p:nvPr/>
        </p:nvSpPr>
        <p:spPr>
          <a:xfrm>
            <a:off x="1567472" y="1618416"/>
            <a:ext cx="553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Low</a:t>
            </a:r>
            <a:endParaRPr lang="en-US" dirty="0"/>
          </a:p>
        </p:txBody>
      </p:sp>
      <p:sp>
        <p:nvSpPr>
          <p:cNvPr id="14" name="Text"/>
          <p:cNvSpPr/>
          <p:nvPr/>
        </p:nvSpPr>
        <p:spPr>
          <a:xfrm>
            <a:off x="2267472" y="1618416"/>
            <a:ext cx="1381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6848"/>
                </a:solidFill>
              </a:rPr>
              <a:t>Eventual — OK</a:t>
            </a:r>
            <a:endParaRPr lang="en-US" dirty="0"/>
          </a:p>
        </p:txBody>
      </p:sp>
      <p:sp>
        <p:nvSpPr>
          <p:cNvPr id="15" name="Text"/>
          <p:cNvSpPr/>
          <p:nvPr/>
        </p:nvSpPr>
        <p:spPr>
          <a:xfrm>
            <a:off x="3795152" y="1618416"/>
            <a:ext cx="703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6848"/>
                </a:solidFill>
              </a:rPr>
              <a:t>Exp 2</a:t>
            </a:r>
            <a:endParaRPr lang="en-US" dirty="0"/>
          </a:p>
        </p:txBody>
      </p:sp>
      <p:sp>
        <p:nvSpPr>
          <p:cNvPr id="16" name="BG"/>
          <p:cNvSpPr/>
          <p:nvPr/>
        </p:nvSpPr>
        <p:spPr>
          <a:xfrm>
            <a:off x="274320" y="2011608"/>
            <a:ext cx="4297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7" name="Text"/>
          <p:cNvSpPr/>
          <p:nvPr/>
        </p:nvSpPr>
        <p:spPr>
          <a:xfrm>
            <a:off x="347472" y="2039040"/>
            <a:ext cx="1073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drivers</a:t>
            </a:r>
            <a:endParaRPr lang="en-US" dirty="0"/>
          </a:p>
        </p:txBody>
      </p:sp>
      <p:sp>
        <p:nvSpPr>
          <p:cNvPr id="18" name="Text"/>
          <p:cNvSpPr/>
          <p:nvPr/>
        </p:nvSpPr>
        <p:spPr>
          <a:xfrm>
            <a:off x="1567472" y="2039040"/>
            <a:ext cx="553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Low</a:t>
            </a:r>
            <a:endParaRPr lang="en-US" dirty="0"/>
          </a:p>
        </p:txBody>
      </p:sp>
      <p:sp>
        <p:nvSpPr>
          <p:cNvPr id="19" name="Text"/>
          <p:cNvSpPr/>
          <p:nvPr/>
        </p:nvSpPr>
        <p:spPr>
          <a:xfrm>
            <a:off x="2267472" y="2039040"/>
            <a:ext cx="1381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6848"/>
                </a:solidFill>
              </a:rPr>
              <a:t>Sync / lookup</a:t>
            </a:r>
            <a:endParaRPr lang="en-US" dirty="0"/>
          </a:p>
        </p:txBody>
      </p:sp>
      <p:sp>
        <p:nvSpPr>
          <p:cNvPr id="20" name="Text"/>
          <p:cNvSpPr/>
          <p:nvPr/>
        </p:nvSpPr>
        <p:spPr>
          <a:xfrm>
            <a:off x="3795152" y="2039040"/>
            <a:ext cx="703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6848"/>
                </a:solidFill>
              </a:rPr>
              <a:t>Exp 1</a:t>
            </a:r>
            <a:endParaRPr lang="en-US" dirty="0"/>
          </a:p>
        </p:txBody>
      </p:sp>
      <p:sp>
        <p:nvSpPr>
          <p:cNvPr id="21" name="BG"/>
          <p:cNvSpPr/>
          <p:nvPr/>
        </p:nvSpPr>
        <p:spPr>
          <a:xfrm>
            <a:off x="274320" y="2432232"/>
            <a:ext cx="4297680" cy="420624"/>
          </a:xfrm>
          <a:prstGeom prst="rect">
            <a:avLst/>
          </a:prstGeom>
          <a:solidFill>
            <a:srgbClr val="E8F5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2" name="Text"/>
          <p:cNvSpPr/>
          <p:nvPr/>
        </p:nvSpPr>
        <p:spPr>
          <a:xfrm>
            <a:off x="347472" y="2459664"/>
            <a:ext cx="1073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depots</a:t>
            </a:r>
            <a:endParaRPr lang="en-US" dirty="0"/>
          </a:p>
        </p:txBody>
      </p:sp>
      <p:sp>
        <p:nvSpPr>
          <p:cNvPr id="23" name="Text"/>
          <p:cNvSpPr/>
          <p:nvPr/>
        </p:nvSpPr>
        <p:spPr>
          <a:xfrm>
            <a:off x="1567472" y="2459664"/>
            <a:ext cx="553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Static</a:t>
            </a:r>
            <a:endParaRPr lang="en-US" dirty="0"/>
          </a:p>
        </p:txBody>
      </p:sp>
      <p:sp>
        <p:nvSpPr>
          <p:cNvPr id="24" name="Text"/>
          <p:cNvSpPr/>
          <p:nvPr/>
        </p:nvSpPr>
        <p:spPr>
          <a:xfrm>
            <a:off x="2267472" y="2459664"/>
            <a:ext cx="1381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6848"/>
                </a:solidFill>
              </a:rPr>
              <a:t>Sync — static</a:t>
            </a:r>
            <a:endParaRPr lang="en-US" dirty="0"/>
          </a:p>
        </p:txBody>
      </p:sp>
      <p:sp>
        <p:nvSpPr>
          <p:cNvPr id="25" name="Text"/>
          <p:cNvSpPr/>
          <p:nvPr/>
        </p:nvSpPr>
        <p:spPr>
          <a:xfrm>
            <a:off x="3795152" y="2459664"/>
            <a:ext cx="703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06848"/>
                </a:solidFill>
              </a:rPr>
              <a:t>Exp 1</a:t>
            </a:r>
            <a:endParaRPr lang="en-US" dirty="0"/>
          </a:p>
        </p:txBody>
      </p:sp>
      <p:sp>
        <p:nvSpPr>
          <p:cNvPr id="26" name="BG"/>
          <p:cNvSpPr/>
          <p:nvPr/>
        </p:nvSpPr>
        <p:spPr>
          <a:xfrm>
            <a:off x="274320" y="2852856"/>
            <a:ext cx="4297680" cy="420624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7" name="Text"/>
          <p:cNvSpPr/>
          <p:nvPr/>
        </p:nvSpPr>
        <p:spPr>
          <a:xfrm>
            <a:off x="347472" y="2880288"/>
            <a:ext cx="1073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shipments</a:t>
            </a:r>
            <a:endParaRPr lang="en-US" dirty="0"/>
          </a:p>
        </p:txBody>
      </p:sp>
      <p:sp>
        <p:nvSpPr>
          <p:cNvPr id="28" name="Text"/>
          <p:cNvSpPr/>
          <p:nvPr/>
        </p:nvSpPr>
        <p:spPr>
          <a:xfrm>
            <a:off x="1567472" y="2880288"/>
            <a:ext cx="553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Medium</a:t>
            </a:r>
            <a:endParaRPr lang="en-US" dirty="0"/>
          </a:p>
        </p:txBody>
      </p:sp>
      <p:sp>
        <p:nvSpPr>
          <p:cNvPr id="29" name="Text"/>
          <p:cNvSpPr/>
          <p:nvPr/>
        </p:nvSpPr>
        <p:spPr>
          <a:xfrm>
            <a:off x="2267472" y="2880288"/>
            <a:ext cx="1381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</a:rPr>
              <a:t>Monotonic reads</a:t>
            </a:r>
            <a:endParaRPr lang="en-US" dirty="0"/>
          </a:p>
        </p:txBody>
      </p:sp>
      <p:sp>
        <p:nvSpPr>
          <p:cNvPr id="30" name="Text"/>
          <p:cNvSpPr/>
          <p:nvPr/>
        </p:nvSpPr>
        <p:spPr>
          <a:xfrm>
            <a:off x="3795152" y="2880288"/>
            <a:ext cx="703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</a:rPr>
              <a:t>Exp 4</a:t>
            </a:r>
            <a:endParaRPr lang="en-US" dirty="0"/>
          </a:p>
        </p:txBody>
      </p:sp>
      <p:sp>
        <p:nvSpPr>
          <p:cNvPr id="31" name="BG"/>
          <p:cNvSpPr/>
          <p:nvPr/>
        </p:nvSpPr>
        <p:spPr>
          <a:xfrm>
            <a:off x="274320" y="3273480"/>
            <a:ext cx="429768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2" name="Text"/>
          <p:cNvSpPr/>
          <p:nvPr/>
        </p:nvSpPr>
        <p:spPr>
          <a:xfrm>
            <a:off x="347472" y="3300912"/>
            <a:ext cx="1073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positions</a:t>
            </a:r>
            <a:endParaRPr lang="en-US" dirty="0"/>
          </a:p>
        </p:txBody>
      </p:sp>
      <p:sp>
        <p:nvSpPr>
          <p:cNvPr id="33" name="Text"/>
          <p:cNvSpPr/>
          <p:nvPr/>
        </p:nvSpPr>
        <p:spPr>
          <a:xfrm>
            <a:off x="1567472" y="3300912"/>
            <a:ext cx="553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High ↑</a:t>
            </a:r>
            <a:endParaRPr lang="en-US" dirty="0"/>
          </a:p>
        </p:txBody>
      </p:sp>
      <p:sp>
        <p:nvSpPr>
          <p:cNvPr id="34" name="Text"/>
          <p:cNvSpPr/>
          <p:nvPr/>
        </p:nvSpPr>
        <p:spPr>
          <a:xfrm>
            <a:off x="2267472" y="3300912"/>
            <a:ext cx="1381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64C8"/>
                </a:solidFill>
              </a:rPr>
              <a:t>Eventual — OK</a:t>
            </a:r>
            <a:endParaRPr lang="en-US" dirty="0"/>
          </a:p>
        </p:txBody>
      </p:sp>
      <p:sp>
        <p:nvSpPr>
          <p:cNvPr id="35" name="Text"/>
          <p:cNvSpPr/>
          <p:nvPr/>
        </p:nvSpPr>
        <p:spPr>
          <a:xfrm>
            <a:off x="3795152" y="3300912"/>
            <a:ext cx="703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64C8"/>
                </a:solidFill>
              </a:rPr>
              <a:t>Exp 5</a:t>
            </a:r>
            <a:endParaRPr lang="en-US" dirty="0"/>
          </a:p>
        </p:txBody>
      </p:sp>
      <p:sp>
        <p:nvSpPr>
          <p:cNvPr id="36" name="BG"/>
          <p:cNvSpPr/>
          <p:nvPr/>
        </p:nvSpPr>
        <p:spPr>
          <a:xfrm>
            <a:off x="274320" y="3694104"/>
            <a:ext cx="4297680" cy="420624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7" name="Text"/>
          <p:cNvSpPr/>
          <p:nvPr/>
        </p:nvSpPr>
        <p:spPr>
          <a:xfrm>
            <a:off x="347472" y="3721536"/>
            <a:ext cx="1073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incidents</a:t>
            </a:r>
            <a:endParaRPr lang="en-US" dirty="0"/>
          </a:p>
        </p:txBody>
      </p:sp>
      <p:sp>
        <p:nvSpPr>
          <p:cNvPr id="38" name="Text"/>
          <p:cNvSpPr/>
          <p:nvPr/>
        </p:nvSpPr>
        <p:spPr>
          <a:xfrm>
            <a:off x="1567472" y="3721536"/>
            <a:ext cx="553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</a:rPr>
              <a:t>Low</a:t>
            </a:r>
            <a:endParaRPr lang="en-US" dirty="0"/>
          </a:p>
        </p:txBody>
      </p:sp>
      <p:sp>
        <p:nvSpPr>
          <p:cNvPr id="39" name="Text"/>
          <p:cNvSpPr/>
          <p:nvPr/>
        </p:nvSpPr>
        <p:spPr>
          <a:xfrm>
            <a:off x="2267472" y="3721536"/>
            <a:ext cx="1381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</a:rPr>
              <a:t>Read-after-write</a:t>
            </a:r>
            <a:endParaRPr lang="en-US" dirty="0"/>
          </a:p>
        </p:txBody>
      </p:sp>
      <p:sp>
        <p:nvSpPr>
          <p:cNvPr id="40" name="Text"/>
          <p:cNvSpPr/>
          <p:nvPr/>
        </p:nvSpPr>
        <p:spPr>
          <a:xfrm>
            <a:off x="3795152" y="3721536"/>
            <a:ext cx="703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</a:rPr>
              <a:t>Exp 3</a:t>
            </a:r>
            <a:endParaRPr lang="en-US" dirty="0"/>
          </a:p>
        </p:txBody>
      </p:sp>
      <p:sp>
        <p:nvSpPr>
          <p:cNvPr id="41" name="BG"/>
          <p:cNvSpPr/>
          <p:nvPr/>
        </p:nvSpPr>
        <p:spPr>
          <a:xfrm>
            <a:off x="274320" y="4151304"/>
            <a:ext cx="4297680" cy="900756"/>
          </a:xfrm>
          <a:prstGeom prst="rect">
            <a:avLst/>
          </a:prstGeom>
          <a:solidFill>
            <a:srgbClr val="ECFDF5"/>
          </a:solidFill>
          <a:ln w="1270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2" name="Text"/>
          <p:cNvSpPr/>
          <p:nvPr/>
        </p:nvSpPr>
        <p:spPr>
          <a:xfrm>
            <a:off x="347472" y="4178736"/>
            <a:ext cx="4151376" cy="845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006848"/>
                </a:solidFill>
              </a:rPr>
              <a:t>Design principle: </a:t>
            </a:r>
            <a:r>
              <a:rPr lang="en-US" sz="980" dirty="0">
                <a:solidFill>
                  <a:srgbClr val="1A1A2E"/>
                </a:solidFill>
              </a:rPr>
              <a:t>write freq + criticality drives consistency model. </a:t>
            </a:r>
            <a:r>
              <a:rPr lang="en-US" sz="98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incidents</a:t>
            </a:r>
            <a:r>
              <a:rPr lang="en-US" sz="980" dirty="0">
                <a:solidFill>
                  <a:srgbClr val="1A1A2E"/>
                </a:solidFill>
              </a:rPr>
              <a:t> needs RAW (safety-critical); </a:t>
            </a:r>
            <a:r>
              <a:rPr lang="en-US" sz="980" b="1" dirty="0">
                <a:solidFill>
                  <a:srgbClr val="1E6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positions</a:t>
            </a:r>
            <a:r>
              <a:rPr lang="en-US" sz="980" dirty="0">
                <a:solidFill>
                  <a:srgbClr val="1A1A2E"/>
                </a:solidFill>
              </a:rPr>
              <a:t> tolerates lag (high throughput); </a:t>
            </a:r>
            <a:r>
              <a:rPr lang="en-US" sz="98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shipments</a:t>
            </a:r>
            <a:r>
              <a:rPr lang="en-US" sz="980" dirty="0">
                <a:solidFill>
                  <a:srgbClr val="1A1A2E"/>
                </a:solidFill>
              </a:rPr>
              <a:t> must never read a version backwards.</a:t>
            </a:r>
            <a:endParaRPr lang="en-US" dirty="0"/>
          </a:p>
        </p:txBody>
      </p:sp>
      <p:sp>
        <p:nvSpPr>
          <p:cNvPr id="43" name="Text"/>
          <p:cNvSpPr/>
          <p:nvPr/>
        </p:nvSpPr>
        <p:spPr>
          <a:xfrm>
            <a:off x="4846320" y="9691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848"/>
                </a:solidFill>
              </a:rPr>
              <a:t>operation_logs  —  Observability Layer</a:t>
            </a:r>
            <a:endParaRPr lang="en-US" dirty="0"/>
          </a:p>
        </p:txBody>
      </p:sp>
      <p:sp>
        <p:nvSpPr>
          <p:cNvPr id="44" name="BG"/>
          <p:cNvSpPr/>
          <p:nvPr/>
        </p:nvSpPr>
        <p:spPr>
          <a:xfrm>
            <a:off x="4846320" y="1261800"/>
            <a:ext cx="4023360" cy="329184"/>
          </a:xfrm>
          <a:prstGeom prst="rect">
            <a:avLst/>
          </a:prstGeom>
          <a:solidFill>
            <a:srgbClr val="006848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45" name="Text"/>
          <p:cNvSpPr/>
          <p:nvPr/>
        </p:nvSpPr>
        <p:spPr>
          <a:xfrm>
            <a:off x="4919472" y="1289232"/>
            <a:ext cx="13536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Field</a:t>
            </a:r>
            <a:endParaRPr lang="en-US" dirty="0"/>
          </a:p>
        </p:txBody>
      </p:sp>
      <p:sp>
        <p:nvSpPr>
          <p:cNvPr id="46" name="Text"/>
          <p:cNvSpPr/>
          <p:nvPr/>
        </p:nvSpPr>
        <p:spPr>
          <a:xfrm>
            <a:off x="6419472" y="1289232"/>
            <a:ext cx="2377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Description</a:t>
            </a:r>
            <a:endParaRPr lang="en-US" dirty="0"/>
          </a:p>
        </p:txBody>
      </p:sp>
      <p:sp>
        <p:nvSpPr>
          <p:cNvPr id="47" name="BG"/>
          <p:cNvSpPr/>
          <p:nvPr/>
        </p:nvSpPr>
        <p:spPr>
          <a:xfrm>
            <a:off x="4846320" y="1590984"/>
            <a:ext cx="4023360" cy="350520"/>
          </a:xfrm>
          <a:prstGeom prst="rect">
            <a:avLst/>
          </a:prstGeom>
          <a:solidFill>
            <a:srgbClr val="E8F5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8" name="Text"/>
          <p:cNvSpPr/>
          <p:nvPr/>
        </p:nvSpPr>
        <p:spPr>
          <a:xfrm>
            <a:off x="4919472" y="1618416"/>
            <a:ext cx="1353696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operation_type</a:t>
            </a:r>
            <a:endParaRPr lang="en-US" dirty="0"/>
          </a:p>
        </p:txBody>
      </p:sp>
      <p:sp>
        <p:nvSpPr>
          <p:cNvPr id="49" name="Text"/>
          <p:cNvSpPr/>
          <p:nvPr/>
        </p:nvSpPr>
        <p:spPr>
          <a:xfrm>
            <a:off x="6419472" y="1618416"/>
            <a:ext cx="2377056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insert / update / delete</a:t>
            </a:r>
            <a:endParaRPr lang="en-US" dirty="0"/>
          </a:p>
        </p:txBody>
      </p:sp>
      <p:sp>
        <p:nvSpPr>
          <p:cNvPr id="50" name="BG"/>
          <p:cNvSpPr/>
          <p:nvPr/>
        </p:nvSpPr>
        <p:spPr>
          <a:xfrm>
            <a:off x="4846320" y="1941504"/>
            <a:ext cx="4023360" cy="35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1" name="Text"/>
          <p:cNvSpPr/>
          <p:nvPr/>
        </p:nvSpPr>
        <p:spPr>
          <a:xfrm>
            <a:off x="4919472" y="1968936"/>
            <a:ext cx="1353696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log_index</a:t>
            </a:r>
            <a:endParaRPr lang="en-US" dirty="0"/>
          </a:p>
        </p:txBody>
      </p:sp>
      <p:sp>
        <p:nvSpPr>
          <p:cNvPr id="52" name="Text"/>
          <p:cNvSpPr/>
          <p:nvPr/>
        </p:nvSpPr>
        <p:spPr>
          <a:xfrm>
            <a:off x="6419472" y="1968936"/>
            <a:ext cx="2377056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Global monotonic counter (Raft-style)</a:t>
            </a:r>
            <a:endParaRPr lang="en-US" dirty="0"/>
          </a:p>
        </p:txBody>
      </p:sp>
      <p:sp>
        <p:nvSpPr>
          <p:cNvPr id="53" name="BG"/>
          <p:cNvSpPr/>
          <p:nvPr/>
        </p:nvSpPr>
        <p:spPr>
          <a:xfrm>
            <a:off x="4846320" y="2292024"/>
            <a:ext cx="4023360" cy="350520"/>
          </a:xfrm>
          <a:prstGeom prst="rect">
            <a:avLst/>
          </a:prstGeom>
          <a:solidFill>
            <a:srgbClr val="E8F5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4" name="Text"/>
          <p:cNvSpPr/>
          <p:nvPr/>
        </p:nvSpPr>
        <p:spPr>
          <a:xfrm>
            <a:off x="4919472" y="2319456"/>
            <a:ext cx="1353696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leader_write_time</a:t>
            </a:r>
            <a:endParaRPr lang="en-US" dirty="0"/>
          </a:p>
        </p:txBody>
      </p:sp>
      <p:sp>
        <p:nvSpPr>
          <p:cNvPr id="55" name="Text"/>
          <p:cNvSpPr/>
          <p:nvPr/>
        </p:nvSpPr>
        <p:spPr>
          <a:xfrm>
            <a:off x="6419472" y="2319456"/>
            <a:ext cx="2377056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UTC — when PRIMARY committed</a:t>
            </a:r>
            <a:endParaRPr lang="en-US" dirty="0"/>
          </a:p>
        </p:txBody>
      </p:sp>
      <p:sp>
        <p:nvSpPr>
          <p:cNvPr id="56" name="BG"/>
          <p:cNvSpPr/>
          <p:nvPr/>
        </p:nvSpPr>
        <p:spPr>
          <a:xfrm>
            <a:off x="4846320" y="2642544"/>
            <a:ext cx="4023360" cy="35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7" name="Text"/>
          <p:cNvSpPr/>
          <p:nvPr/>
        </p:nvSpPr>
        <p:spPr>
          <a:xfrm>
            <a:off x="4919472" y="2669976"/>
            <a:ext cx="1353696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follower_visible_time</a:t>
            </a:r>
            <a:endParaRPr lang="en-US" dirty="0"/>
          </a:p>
        </p:txBody>
      </p:sp>
      <p:sp>
        <p:nvSpPr>
          <p:cNvPr id="58" name="Text"/>
          <p:cNvSpPr/>
          <p:nvPr/>
        </p:nvSpPr>
        <p:spPr>
          <a:xfrm>
            <a:off x="6419472" y="2669976"/>
            <a:ext cx="2377056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UTC — when SECONDARY showed version_after</a:t>
            </a:r>
            <a:endParaRPr lang="en-US" dirty="0"/>
          </a:p>
        </p:txBody>
      </p:sp>
      <p:sp>
        <p:nvSpPr>
          <p:cNvPr id="59" name="BG"/>
          <p:cNvSpPr/>
          <p:nvPr/>
        </p:nvSpPr>
        <p:spPr>
          <a:xfrm>
            <a:off x="4846320" y="2993064"/>
            <a:ext cx="4023360" cy="350520"/>
          </a:xfrm>
          <a:prstGeom prst="rect">
            <a:avLst/>
          </a:prstGeom>
          <a:solidFill>
            <a:srgbClr val="E8F5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0" name="Text"/>
          <p:cNvSpPr/>
          <p:nvPr/>
        </p:nvSpPr>
        <p:spPr>
          <a:xfrm>
            <a:off x="4919472" y="3020496"/>
            <a:ext cx="1353696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replication_delay_ms</a:t>
            </a:r>
            <a:endParaRPr lang="en-US" dirty="0"/>
          </a:p>
        </p:txBody>
      </p:sp>
      <p:sp>
        <p:nvSpPr>
          <p:cNvPr id="61" name="Text"/>
          <p:cNvSpPr/>
          <p:nvPr/>
        </p:nvSpPr>
        <p:spPr>
          <a:xfrm>
            <a:off x="6419472" y="3020496"/>
            <a:ext cx="2377056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follower_visible_time − leader_write_time</a:t>
            </a:r>
            <a:endParaRPr lang="en-US" dirty="0"/>
          </a:p>
        </p:txBody>
      </p:sp>
      <p:sp>
        <p:nvSpPr>
          <p:cNvPr id="62" name="BG"/>
          <p:cNvSpPr/>
          <p:nvPr/>
        </p:nvSpPr>
        <p:spPr>
          <a:xfrm>
            <a:off x="4846320" y="3343584"/>
            <a:ext cx="4023360" cy="35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3" name="Text"/>
          <p:cNvSpPr/>
          <p:nvPr/>
        </p:nvSpPr>
        <p:spPr>
          <a:xfrm>
            <a:off x="4919472" y="3371016"/>
            <a:ext cx="1353696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version_before / after</a:t>
            </a:r>
            <a:endParaRPr lang="en-US" dirty="0"/>
          </a:p>
        </p:txBody>
      </p:sp>
      <p:sp>
        <p:nvSpPr>
          <p:cNvPr id="64" name="Text"/>
          <p:cNvSpPr/>
          <p:nvPr/>
        </p:nvSpPr>
        <p:spPr>
          <a:xfrm>
            <a:off x="6419472" y="3371016"/>
            <a:ext cx="2377056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Document version before and after write</a:t>
            </a:r>
            <a:endParaRPr lang="en-US" dirty="0"/>
          </a:p>
        </p:txBody>
      </p:sp>
      <p:sp>
        <p:nvSpPr>
          <p:cNvPr id="65" name="BG"/>
          <p:cNvSpPr/>
          <p:nvPr/>
        </p:nvSpPr>
        <p:spPr>
          <a:xfrm>
            <a:off x="4846320" y="3694104"/>
            <a:ext cx="4023360" cy="350520"/>
          </a:xfrm>
          <a:prstGeom prst="rect">
            <a:avLst/>
          </a:prstGeom>
          <a:solidFill>
            <a:srgbClr val="E8F5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6" name="Text"/>
          <p:cNvSpPr/>
          <p:nvPr/>
        </p:nvSpPr>
        <p:spPr>
          <a:xfrm>
            <a:off x="4919472" y="3721536"/>
            <a:ext cx="1353696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dirty="0"/>
          </a:p>
        </p:txBody>
      </p:sp>
      <p:sp>
        <p:nvSpPr>
          <p:cNvPr id="67" name="Text"/>
          <p:cNvSpPr/>
          <p:nvPr/>
        </p:nvSpPr>
        <p:spPr>
          <a:xfrm>
            <a:off x="6419472" y="3721536"/>
            <a:ext cx="2377056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pending_follower  →  visible_on_follower / timeout</a:t>
            </a:r>
            <a:endParaRPr lang="en-US" dirty="0"/>
          </a:p>
        </p:txBody>
      </p:sp>
      <p:sp>
        <p:nvSpPr>
          <p:cNvPr id="68" name="BG"/>
          <p:cNvSpPr/>
          <p:nvPr/>
        </p:nvSpPr>
        <p:spPr>
          <a:xfrm>
            <a:off x="4846320" y="4044624"/>
            <a:ext cx="4023360" cy="35052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9" name="Text"/>
          <p:cNvSpPr/>
          <p:nvPr/>
        </p:nvSpPr>
        <p:spPr>
          <a:xfrm>
            <a:off x="4919472" y="4072056"/>
            <a:ext cx="1353696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write_concern</a:t>
            </a:r>
            <a:endParaRPr lang="en-US" dirty="0"/>
          </a:p>
        </p:txBody>
      </p:sp>
      <p:sp>
        <p:nvSpPr>
          <p:cNvPr id="70" name="Text"/>
          <p:cNvSpPr/>
          <p:nvPr/>
        </p:nvSpPr>
        <p:spPr>
          <a:xfrm>
            <a:off x="6419472" y="4072056"/>
            <a:ext cx="2377056" cy="295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</a:rPr>
              <a:t>majority (sync) or 1 (async)</a:t>
            </a:r>
            <a:endParaRPr lang="en-US" dirty="0"/>
          </a:p>
        </p:txBody>
      </p:sp>
      <p:sp>
        <p:nvSpPr>
          <p:cNvPr id="71" name="BG"/>
          <p:cNvSpPr/>
          <p:nvPr/>
        </p:nvSpPr>
        <p:spPr>
          <a:xfrm>
            <a:off x="4846320" y="4431720"/>
            <a:ext cx="4023360" cy="620340"/>
          </a:xfrm>
          <a:prstGeom prst="rect">
            <a:avLst/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2" name="Text"/>
          <p:cNvSpPr/>
          <p:nvPr/>
        </p:nvSpPr>
        <p:spPr>
          <a:xfrm>
            <a:off x="4919472" y="4459152"/>
            <a:ext cx="3877056" cy="5654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70" b="1" dirty="0">
                <a:solidFill>
                  <a:srgbClr val="D97706"/>
                </a:solidFill>
              </a:rPr>
              <a:t>Log lifecycle: </a:t>
            </a:r>
            <a:r>
              <a:rPr lang="en-US" sz="97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pending_follower</a:t>
            </a:r>
            <a:r>
              <a:rPr lang="en-US" sz="970" b="1" dirty="0">
                <a:solidFill>
                  <a:srgbClr val="006848"/>
                </a:solidFill>
              </a:rPr>
              <a:t>  →  </a:t>
            </a:r>
            <a:r>
              <a:rPr lang="en-US" sz="970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visible_on_follower</a:t>
            </a:r>
            <a:r>
              <a:rPr lang="en-US" sz="970" dirty="0">
                <a:solidFill>
                  <a:srgbClr val="1A1A2E"/>
                </a:solidFill>
              </a:rPr>
              <a:t>   or   </a:t>
            </a:r>
            <a:r>
              <a:rPr lang="en-US" sz="97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timeout</a:t>
            </a:r>
            <a:r>
              <a:rPr lang="en-US" sz="970" dirty="0">
                <a:solidFill>
                  <a:srgbClr val="DC2626"/>
                </a:solidFill>
              </a:rPr>
              <a:t> (5 s → reconciler retries)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848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" name="S3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Experiment 1 — Synchronous Replication</a:t>
            </a:r>
            <a:endParaRPr lang="en-US" dirty="0"/>
          </a:p>
        </p:txBody>
      </p:sp>
      <p:sp>
        <p:nvSpPr>
          <p:cNvPr id="4" name="S4"/>
          <p:cNvSpPr/>
          <p:nvPr/>
        </p:nvSpPr>
        <p:spPr>
          <a:xfrm>
            <a:off x="411480" y="5943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DFC8"/>
                </a:solidFill>
              </a:rPr>
              <a:t>INSERT into positions with w=majority  ·  vehicle SYNC-EXP  ·  Istanbul, Besiktas</a:t>
            </a:r>
            <a:endParaRPr lang="en-US" dirty="0"/>
          </a:p>
        </p:txBody>
      </p:sp>
      <p:sp>
        <p:nvSpPr>
          <p:cNvPr id="5" name="S5"/>
          <p:cNvSpPr/>
          <p:nvPr/>
        </p:nvSpPr>
        <p:spPr>
          <a:xfrm>
            <a:off x="274320" y="102412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848"/>
                </a:solidFill>
              </a:rPr>
              <a:t>What was written</a:t>
            </a:r>
            <a:endParaRPr lang="en-US" dirty="0"/>
          </a:p>
        </p:txBody>
      </p:sp>
      <p:sp>
        <p:nvSpPr>
          <p:cNvPr id="6" name="S6"/>
          <p:cNvSpPr/>
          <p:nvPr/>
        </p:nvSpPr>
        <p:spPr>
          <a:xfrm>
            <a:off x="274320" y="1371528"/>
            <a:ext cx="4297680" cy="274320"/>
          </a:xfrm>
          <a:prstGeom prst="rect">
            <a:avLst/>
          </a:prstGeom>
          <a:solidFill>
            <a:srgbClr val="0D1117"/>
          </a:solidFill>
          <a:ln w="635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S7"/>
          <p:cNvSpPr/>
          <p:nvPr/>
        </p:nvSpPr>
        <p:spPr>
          <a:xfrm>
            <a:off x="347472" y="1371528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r>
              <a:rPr lang="en-US" sz="1050" dirty="0">
                <a:solidFill>
                  <a:srgbClr val="AADFC8"/>
                </a:solidFill>
              </a:rPr>
              <a:t>  ·  collection: </a:t>
            </a:r>
            <a:r>
              <a:rPr lang="en-US" sz="1050" b="1" dirty="0">
                <a:solidFill>
                  <a:srgbClr val="00A8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positions</a:t>
            </a:r>
            <a:r>
              <a:rPr lang="en-US" sz="1050" dirty="0">
                <a:solidFill>
                  <a:srgbClr val="AADFC8"/>
                </a:solidFill>
              </a:rPr>
              <a:t>  ·  log_index: #884  ·  w=majority</a:t>
            </a:r>
            <a:endParaRPr lang="en-US" dirty="0"/>
          </a:p>
        </p:txBody>
      </p:sp>
      <p:sp>
        <p:nvSpPr>
          <p:cNvPr id="8" name="S8"/>
          <p:cNvSpPr/>
          <p:nvPr/>
        </p:nvSpPr>
        <p:spPr>
          <a:xfrm>
            <a:off x="274320" y="1645848"/>
            <a:ext cx="4297680" cy="153180"/>
          </a:xfrm>
          <a:prstGeom prst="rect">
            <a:avLst/>
          </a:prstGeom>
          <a:solidFill>
            <a:srgbClr val="E8F5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S9"/>
          <p:cNvSpPr/>
          <p:nvPr/>
        </p:nvSpPr>
        <p:spPr>
          <a:xfrm>
            <a:off x="347472" y="168242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vehicle_id</a:t>
            </a:r>
            <a:endParaRPr lang="en-US" dirty="0"/>
          </a:p>
        </p:txBody>
      </p:sp>
      <p:sp>
        <p:nvSpPr>
          <p:cNvPr id="10" name="S10"/>
          <p:cNvSpPr/>
          <p:nvPr/>
        </p:nvSpPr>
        <p:spPr>
          <a:xfrm>
            <a:off x="1807472" y="168242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"SYNC-EXP"</a:t>
            </a:r>
            <a:endParaRPr lang="en-US" dirty="0"/>
          </a:p>
        </p:txBody>
      </p:sp>
      <p:sp>
        <p:nvSpPr>
          <p:cNvPr id="11" name="S11"/>
          <p:cNvSpPr/>
          <p:nvPr/>
        </p:nvSpPr>
        <p:spPr>
          <a:xfrm>
            <a:off x="274320" y="1799028"/>
            <a:ext cx="4297680" cy="1531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S12"/>
          <p:cNvSpPr/>
          <p:nvPr/>
        </p:nvSpPr>
        <p:spPr>
          <a:xfrm>
            <a:off x="347472" y="183560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</a:t>
            </a:r>
            <a:endParaRPr lang="en-US" dirty="0"/>
          </a:p>
        </p:txBody>
      </p:sp>
      <p:sp>
        <p:nvSpPr>
          <p:cNvPr id="13" name="S13"/>
          <p:cNvSpPr/>
          <p:nvPr/>
        </p:nvSpPr>
        <p:spPr>
          <a:xfrm>
            <a:off x="1807472" y="183560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41.0082</a:t>
            </a:r>
            <a:endParaRPr lang="en-US" dirty="0"/>
          </a:p>
        </p:txBody>
      </p:sp>
      <p:sp>
        <p:nvSpPr>
          <p:cNvPr id="14" name="S14"/>
          <p:cNvSpPr/>
          <p:nvPr/>
        </p:nvSpPr>
        <p:spPr>
          <a:xfrm>
            <a:off x="274320" y="1952208"/>
            <a:ext cx="4297680" cy="153180"/>
          </a:xfrm>
          <a:prstGeom prst="rect">
            <a:avLst/>
          </a:prstGeom>
          <a:solidFill>
            <a:srgbClr val="E8F5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" name="S15"/>
          <p:cNvSpPr/>
          <p:nvPr/>
        </p:nvSpPr>
        <p:spPr>
          <a:xfrm>
            <a:off x="347472" y="198878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lng</a:t>
            </a:r>
            <a:endParaRPr lang="en-US" dirty="0"/>
          </a:p>
        </p:txBody>
      </p:sp>
      <p:sp>
        <p:nvSpPr>
          <p:cNvPr id="16" name="S16"/>
          <p:cNvSpPr/>
          <p:nvPr/>
        </p:nvSpPr>
        <p:spPr>
          <a:xfrm>
            <a:off x="1807472" y="198878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28.9784</a:t>
            </a:r>
            <a:endParaRPr lang="en-US" dirty="0"/>
          </a:p>
        </p:txBody>
      </p:sp>
      <p:sp>
        <p:nvSpPr>
          <p:cNvPr id="17" name="S17"/>
          <p:cNvSpPr/>
          <p:nvPr/>
        </p:nvSpPr>
        <p:spPr>
          <a:xfrm>
            <a:off x="274320" y="2105388"/>
            <a:ext cx="4297680" cy="1531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S18"/>
          <p:cNvSpPr/>
          <p:nvPr/>
        </p:nvSpPr>
        <p:spPr>
          <a:xfrm>
            <a:off x="347472" y="214196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</a:t>
            </a:r>
            <a:endParaRPr lang="en-US" dirty="0"/>
          </a:p>
        </p:txBody>
      </p:sp>
      <p:sp>
        <p:nvSpPr>
          <p:cNvPr id="19" name="S19"/>
          <p:cNvSpPr/>
          <p:nvPr/>
        </p:nvSpPr>
        <p:spPr>
          <a:xfrm>
            <a:off x="1807472" y="214196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"Istanbul"</a:t>
            </a:r>
            <a:endParaRPr lang="en-US" dirty="0"/>
          </a:p>
        </p:txBody>
      </p:sp>
      <p:sp>
        <p:nvSpPr>
          <p:cNvPr id="20" name="S20"/>
          <p:cNvSpPr/>
          <p:nvPr/>
        </p:nvSpPr>
        <p:spPr>
          <a:xfrm>
            <a:off x="274320" y="2258568"/>
            <a:ext cx="4297680" cy="153180"/>
          </a:xfrm>
          <a:prstGeom prst="rect">
            <a:avLst/>
          </a:prstGeom>
          <a:solidFill>
            <a:srgbClr val="E8F5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1" name="S21"/>
          <p:cNvSpPr/>
          <p:nvPr/>
        </p:nvSpPr>
        <p:spPr>
          <a:xfrm>
            <a:off x="347472" y="229514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district</a:t>
            </a:r>
            <a:endParaRPr lang="en-US" dirty="0"/>
          </a:p>
        </p:txBody>
      </p:sp>
      <p:sp>
        <p:nvSpPr>
          <p:cNvPr id="22" name="S22"/>
          <p:cNvSpPr/>
          <p:nvPr/>
        </p:nvSpPr>
        <p:spPr>
          <a:xfrm>
            <a:off x="1807472" y="229514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"Besiktas"</a:t>
            </a:r>
            <a:endParaRPr lang="en-US" dirty="0"/>
          </a:p>
        </p:txBody>
      </p:sp>
      <p:sp>
        <p:nvSpPr>
          <p:cNvPr id="23" name="S23"/>
          <p:cNvSpPr/>
          <p:nvPr/>
        </p:nvSpPr>
        <p:spPr>
          <a:xfrm>
            <a:off x="274320" y="2411748"/>
            <a:ext cx="4297680" cy="1531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4" name="S24"/>
          <p:cNvSpPr/>
          <p:nvPr/>
        </p:nvSpPr>
        <p:spPr>
          <a:xfrm>
            <a:off x="347472" y="244832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speed_kmh</a:t>
            </a:r>
            <a:endParaRPr lang="en-US" dirty="0"/>
          </a:p>
        </p:txBody>
      </p:sp>
      <p:sp>
        <p:nvSpPr>
          <p:cNvPr id="25" name="S25"/>
          <p:cNvSpPr/>
          <p:nvPr/>
        </p:nvSpPr>
        <p:spPr>
          <a:xfrm>
            <a:off x="1807472" y="244832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</a:t>
            </a:r>
            <a:endParaRPr lang="en-US" dirty="0"/>
          </a:p>
        </p:txBody>
      </p:sp>
      <p:sp>
        <p:nvSpPr>
          <p:cNvPr id="26" name="S26"/>
          <p:cNvSpPr/>
          <p:nvPr/>
        </p:nvSpPr>
        <p:spPr>
          <a:xfrm>
            <a:off x="274320" y="2564928"/>
            <a:ext cx="4297680" cy="15318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7" name="S27"/>
          <p:cNvSpPr/>
          <p:nvPr/>
        </p:nvSpPr>
        <p:spPr>
          <a:xfrm>
            <a:off x="347472" y="260150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endParaRPr lang="en-US" dirty="0"/>
          </a:p>
        </p:txBody>
      </p:sp>
      <p:sp>
        <p:nvSpPr>
          <p:cNvPr id="28" name="S28"/>
          <p:cNvSpPr/>
          <p:nvPr/>
        </p:nvSpPr>
        <p:spPr>
          <a:xfrm>
            <a:off x="1807472" y="260150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</a:rPr>
              <a:t>null → v1  (new document)</a:t>
            </a:r>
            <a:endParaRPr lang="en-US" dirty="0"/>
          </a:p>
        </p:txBody>
      </p:sp>
      <p:sp>
        <p:nvSpPr>
          <p:cNvPr id="29" name="S29"/>
          <p:cNvSpPr/>
          <p:nvPr/>
        </p:nvSpPr>
        <p:spPr>
          <a:xfrm>
            <a:off x="274320" y="2718108"/>
            <a:ext cx="4297680" cy="15318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0" name="S30"/>
          <p:cNvSpPr/>
          <p:nvPr/>
        </p:nvSpPr>
        <p:spPr>
          <a:xfrm>
            <a:off x="347472" y="275468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write_concern</a:t>
            </a:r>
            <a:endParaRPr lang="en-US" dirty="0"/>
          </a:p>
        </p:txBody>
      </p:sp>
      <p:sp>
        <p:nvSpPr>
          <p:cNvPr id="31" name="S31"/>
          <p:cNvSpPr/>
          <p:nvPr/>
        </p:nvSpPr>
        <p:spPr>
          <a:xfrm>
            <a:off x="1807472" y="275468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</a:rPr>
              <a:t>majority  ·  status: visible_on_follower ✓</a:t>
            </a:r>
            <a:endParaRPr lang="en-US" dirty="0"/>
          </a:p>
        </p:txBody>
      </p:sp>
      <p:sp>
        <p:nvSpPr>
          <p:cNvPr id="32" name="S32"/>
          <p:cNvSpPr/>
          <p:nvPr/>
        </p:nvSpPr>
        <p:spPr>
          <a:xfrm>
            <a:off x="4754640" y="102412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848"/>
                </a:solidFill>
              </a:rPr>
              <a:t>Timeline metrics</a:t>
            </a:r>
            <a:endParaRPr lang="en-US" dirty="0"/>
          </a:p>
        </p:txBody>
      </p:sp>
      <p:sp>
        <p:nvSpPr>
          <p:cNvPr id="33" name="S33"/>
          <p:cNvSpPr/>
          <p:nvPr/>
        </p:nvSpPr>
        <p:spPr>
          <a:xfrm>
            <a:off x="4754640" y="13715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6848"/>
                </a:solidFill>
              </a:rPr>
              <a:t>51.6 ms</a:t>
            </a:r>
            <a:endParaRPr lang="en-US" dirty="0"/>
          </a:p>
        </p:txBody>
      </p:sp>
      <p:sp>
        <p:nvSpPr>
          <p:cNvPr id="34" name="S34"/>
          <p:cNvSpPr/>
          <p:nvPr/>
        </p:nvSpPr>
        <p:spPr>
          <a:xfrm>
            <a:off x="4754640" y="17007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Total write latency</a:t>
            </a:r>
            <a:endParaRPr lang="en-US" dirty="0"/>
          </a:p>
        </p:txBody>
      </p:sp>
      <p:sp>
        <p:nvSpPr>
          <p:cNvPr id="35" name="S35"/>
          <p:cNvSpPr/>
          <p:nvPr/>
        </p:nvSpPr>
        <p:spPr>
          <a:xfrm>
            <a:off x="5760480" y="13715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A86B"/>
                </a:solidFill>
              </a:rPr>
              <a:t>~32 ms</a:t>
            </a:r>
            <a:endParaRPr lang="en-US" dirty="0"/>
          </a:p>
        </p:txBody>
      </p:sp>
      <p:sp>
        <p:nvSpPr>
          <p:cNvPr id="36" name="S36"/>
          <p:cNvSpPr/>
          <p:nvPr/>
        </p:nvSpPr>
        <p:spPr>
          <a:xfrm>
            <a:off x="5760480" y="17007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SECONDARY ACK delay</a:t>
            </a:r>
            <a:endParaRPr lang="en-US" dirty="0"/>
          </a:p>
        </p:txBody>
      </p:sp>
      <p:sp>
        <p:nvSpPr>
          <p:cNvPr id="37" name="S37"/>
          <p:cNvSpPr/>
          <p:nvPr/>
        </p:nvSpPr>
        <p:spPr>
          <a:xfrm>
            <a:off x="6766320" y="13715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06"/>
                </a:solidFill>
              </a:rPr>
              <a:t>~7 ms</a:t>
            </a:r>
            <a:endParaRPr lang="en-US" dirty="0"/>
          </a:p>
        </p:txBody>
      </p:sp>
      <p:sp>
        <p:nvSpPr>
          <p:cNvPr id="38" name="S38"/>
          <p:cNvSpPr/>
          <p:nvPr/>
        </p:nvSpPr>
        <p:spPr>
          <a:xfrm>
            <a:off x="6766320" y="17007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Network → PRIMARY</a:t>
            </a:r>
            <a:endParaRPr lang="en-US" dirty="0"/>
          </a:p>
        </p:txBody>
      </p:sp>
      <p:sp>
        <p:nvSpPr>
          <p:cNvPr id="39" name="S39"/>
          <p:cNvSpPr/>
          <p:nvPr/>
        </p:nvSpPr>
        <p:spPr>
          <a:xfrm>
            <a:off x="7772160" y="13715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6848"/>
                </a:solidFill>
              </a:rPr>
              <a:t>0</a:t>
            </a:r>
            <a:endParaRPr lang="en-US" dirty="0"/>
          </a:p>
        </p:txBody>
      </p:sp>
      <p:sp>
        <p:nvSpPr>
          <p:cNvPr id="40" name="S40"/>
          <p:cNvSpPr/>
          <p:nvPr/>
        </p:nvSpPr>
        <p:spPr>
          <a:xfrm>
            <a:off x="7772160" y="17007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</a:rPr>
              <a:t>Stale reads possible</a:t>
            </a:r>
            <a:endParaRPr lang="en-US" dirty="0"/>
          </a:p>
        </p:txBody>
      </p:sp>
      <p:sp>
        <p:nvSpPr>
          <p:cNvPr id="41" name="S41"/>
          <p:cNvSpPr/>
          <p:nvPr/>
        </p:nvSpPr>
        <p:spPr>
          <a:xfrm>
            <a:off x="4754640" y="1938384"/>
            <a:ext cx="4023360" cy="914544"/>
          </a:xfrm>
          <a:prstGeom prst="rect">
            <a:avLst/>
          </a:prstGeom>
          <a:solidFill>
            <a:srgbClr val="ECFDF5"/>
          </a:solidFill>
          <a:ln w="1016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2" name="S42"/>
          <p:cNvSpPr/>
          <p:nvPr/>
        </p:nvSpPr>
        <p:spPr>
          <a:xfrm>
            <a:off x="4754640" y="1938384"/>
            <a:ext cx="64008" cy="914544"/>
          </a:xfrm>
          <a:prstGeom prst="rect">
            <a:avLst/>
          </a:prstGeom>
          <a:solidFill>
            <a:srgbClr val="006848"/>
          </a:solidFill>
          <a:ln w="1270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3" name="S43"/>
          <p:cNvSpPr/>
          <p:nvPr/>
        </p:nvSpPr>
        <p:spPr>
          <a:xfrm>
            <a:off x="4891800" y="1938384"/>
            <a:ext cx="3813048" cy="914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6848"/>
                </a:solidFill>
              </a:rPr>
              <a:t>Key observation:  </a:t>
            </a:r>
            <a:r>
              <a:rPr lang="en-US" sz="1000" dirty="0">
                <a:solidFill>
                  <a:srgbClr val="1A1A2E"/>
                </a:solidFill>
              </a:rPr>
              <a:t>PRIMARY lane is blocked for ~37 ms waiting on SECONDARY’s oplog ACK (t=7ms arrive → t=44ms ACK received). Total client write cost: </a:t>
            </a:r>
            <a:r>
              <a:rPr lang="en-US" sz="1000" b="1" dirty="0">
                <a:solidFill>
                  <a:srgbClr val="006848"/>
                </a:solidFill>
              </a:rPr>
              <a:t>51.6 ms</a:t>
            </a:r>
            <a:r>
              <a:rPr lang="en-US" sz="1000" dirty="0">
                <a:solidFill>
                  <a:srgbClr val="1A1A2E"/>
                </a:solidFill>
              </a:rPr>
              <a:t>. Network accounts for only 7ms+3ms = 10ms — the dominant cost is SECONDARY oplog replay. w=majority guarantees </a:t>
            </a:r>
            <a:r>
              <a:rPr lang="en-US" sz="1000" b="1" dirty="0">
                <a:solidFill>
                  <a:srgbClr val="006848"/>
                </a:solidFill>
              </a:rPr>
              <a:t>0 stale reads</a:t>
            </a:r>
            <a:r>
              <a:rPr lang="en-US" sz="1000" dirty="0">
                <a:solidFill>
                  <a:srgbClr val="1A1A2E"/>
                </a:solidFill>
              </a:rPr>
              <a:t> — both nodes consistent before client receives ok.</a:t>
            </a:r>
            <a:endParaRPr lang="en-US" dirty="0"/>
          </a:p>
        </p:txBody>
      </p:sp>
      <p:sp>
        <p:nvSpPr>
          <p:cNvPr id="44" name="S44"/>
          <p:cNvSpPr/>
          <p:nvPr/>
        </p:nvSpPr>
        <p:spPr>
          <a:xfrm>
            <a:off x="365760" y="2926080"/>
            <a:ext cx="8412480" cy="2162628"/>
          </a:xfrm>
          <a:prstGeom prst="rect">
            <a:avLst/>
          </a:prstGeom>
          <a:solidFill>
            <a:srgbClr val="0D1117"/>
          </a:solidFill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TR"/>
          </a:p>
        </p:txBody>
      </p:sp>
      <p:pic>
        <p:nvPicPr>
          <p:cNvPr id="45" name="exp1" descr="ex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552" y="2980872"/>
            <a:ext cx="8302896" cy="205304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84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3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Experiment 2 — Eventual Consistency</a:t>
            </a:r>
            <a:endParaRPr lang="en-US" dirty="0"/>
          </a:p>
        </p:txBody>
      </p:sp>
      <p:sp>
        <p:nvSpPr>
          <p:cNvPr id="4" name="S4"/>
          <p:cNvSpPr/>
          <p:nvPr/>
        </p:nvSpPr>
        <p:spPr>
          <a:xfrm>
            <a:off x="411480" y="5943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DFC8"/>
                </a:solidFill>
              </a:rPr>
              <a:t>UPDATE into positions (w=1, async)  ·  vehicle EC-BASE  ·  Ankara/Cankaya → Istanbul/Besiktas  ·  log_index: #904</a:t>
            </a:r>
            <a:endParaRPr lang="en-US" dirty="0"/>
          </a:p>
        </p:txBody>
      </p:sp>
      <p:sp>
        <p:nvSpPr>
          <p:cNvPr id="5" name="S5"/>
          <p:cNvSpPr/>
          <p:nvPr/>
        </p:nvSpPr>
        <p:spPr>
          <a:xfrm>
            <a:off x="274320" y="102412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848"/>
                </a:solidFill>
              </a:rPr>
              <a:t>What was updated</a:t>
            </a:r>
            <a:endParaRPr lang="en-US" dirty="0"/>
          </a:p>
        </p:txBody>
      </p:sp>
      <p:sp>
        <p:nvSpPr>
          <p:cNvPr id="6" name="S6"/>
          <p:cNvSpPr/>
          <p:nvPr/>
        </p:nvSpPr>
        <p:spPr>
          <a:xfrm>
            <a:off x="274320" y="1371528"/>
            <a:ext cx="4297680" cy="274320"/>
          </a:xfrm>
          <a:prstGeom prst="rect">
            <a:avLst/>
          </a:prstGeom>
          <a:solidFill>
            <a:srgbClr val="0D1117"/>
          </a:solidFill>
          <a:ln w="635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7"/>
          <p:cNvSpPr/>
          <p:nvPr/>
        </p:nvSpPr>
        <p:spPr>
          <a:xfrm>
            <a:off x="347472" y="1371528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</a:t>
            </a:r>
            <a:r>
              <a:rPr lang="en-US" sz="950" dirty="0">
                <a:solidFill>
                  <a:srgbClr val="AADFC8"/>
                </a:solidFill>
              </a:rPr>
              <a:t>  ·  collection: </a:t>
            </a:r>
            <a:r>
              <a:rPr lang="en-US" sz="950" b="1" dirty="0">
                <a:solidFill>
                  <a:srgbClr val="00A8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positions</a:t>
            </a:r>
            <a:r>
              <a:rPr lang="en-US" sz="950" dirty="0">
                <a:solidFill>
                  <a:srgbClr val="AADFC8"/>
                </a:solidFill>
              </a:rPr>
              <a:t>  ·  log_index: #904  ·  w=1 (async)</a:t>
            </a:r>
            <a:endParaRPr lang="en-US" dirty="0"/>
          </a:p>
        </p:txBody>
      </p:sp>
      <p:sp>
        <p:nvSpPr>
          <p:cNvPr id="8" name="S8"/>
          <p:cNvSpPr/>
          <p:nvPr/>
        </p:nvSpPr>
        <p:spPr>
          <a:xfrm>
            <a:off x="274320" y="1645848"/>
            <a:ext cx="4297680" cy="153180"/>
          </a:xfrm>
          <a:prstGeom prst="rect">
            <a:avLst/>
          </a:prstGeom>
          <a:solidFill>
            <a:srgbClr val="E8F5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9"/>
          <p:cNvSpPr/>
          <p:nvPr/>
        </p:nvSpPr>
        <p:spPr>
          <a:xfrm>
            <a:off x="347472" y="168242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vehicle_id</a:t>
            </a:r>
            <a:endParaRPr lang="en-US" dirty="0"/>
          </a:p>
        </p:txBody>
      </p:sp>
      <p:sp>
        <p:nvSpPr>
          <p:cNvPr id="10" name="S10"/>
          <p:cNvSpPr/>
          <p:nvPr/>
        </p:nvSpPr>
        <p:spPr>
          <a:xfrm>
            <a:off x="1807472" y="168242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"EC-BASE"</a:t>
            </a:r>
            <a:endParaRPr lang="en-US" dirty="0"/>
          </a:p>
        </p:txBody>
      </p:sp>
      <p:sp>
        <p:nvSpPr>
          <p:cNvPr id="11" name="S11"/>
          <p:cNvSpPr/>
          <p:nvPr/>
        </p:nvSpPr>
        <p:spPr>
          <a:xfrm>
            <a:off x="274320" y="1799028"/>
            <a:ext cx="4297680" cy="153180"/>
          </a:xfrm>
          <a:prstGeom prst="rect">
            <a:avLst/>
          </a:prstGeom>
          <a:solidFill>
            <a:srgbClr val="FFF8E1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12"/>
          <p:cNvSpPr/>
          <p:nvPr/>
        </p:nvSpPr>
        <p:spPr>
          <a:xfrm>
            <a:off x="347472" y="183560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</a:t>
            </a:r>
            <a:endParaRPr lang="en-US" dirty="0"/>
          </a:p>
        </p:txBody>
      </p:sp>
      <p:sp>
        <p:nvSpPr>
          <p:cNvPr id="13" name="S13"/>
          <p:cNvSpPr/>
          <p:nvPr/>
        </p:nvSpPr>
        <p:spPr>
          <a:xfrm>
            <a:off x="1807472" y="183560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39.9334 → 41.0082</a:t>
            </a:r>
            <a:endParaRPr lang="en-US" dirty="0"/>
          </a:p>
        </p:txBody>
      </p:sp>
      <p:sp>
        <p:nvSpPr>
          <p:cNvPr id="14" name="S14"/>
          <p:cNvSpPr/>
          <p:nvPr/>
        </p:nvSpPr>
        <p:spPr>
          <a:xfrm>
            <a:off x="274320" y="1952208"/>
            <a:ext cx="4297680" cy="153180"/>
          </a:xfrm>
          <a:prstGeom prst="rect">
            <a:avLst/>
          </a:prstGeom>
          <a:solidFill>
            <a:srgbClr val="E8F5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15"/>
          <p:cNvSpPr/>
          <p:nvPr/>
        </p:nvSpPr>
        <p:spPr>
          <a:xfrm>
            <a:off x="347472" y="198878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lng</a:t>
            </a:r>
            <a:endParaRPr lang="en-US" dirty="0"/>
          </a:p>
        </p:txBody>
      </p:sp>
      <p:sp>
        <p:nvSpPr>
          <p:cNvPr id="16" name="S16"/>
          <p:cNvSpPr/>
          <p:nvPr/>
        </p:nvSpPr>
        <p:spPr>
          <a:xfrm>
            <a:off x="1807472" y="198878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32.8597 → 28.9784</a:t>
            </a:r>
            <a:endParaRPr lang="en-US" dirty="0"/>
          </a:p>
        </p:txBody>
      </p:sp>
      <p:sp>
        <p:nvSpPr>
          <p:cNvPr id="17" name="S17"/>
          <p:cNvSpPr/>
          <p:nvPr/>
        </p:nvSpPr>
        <p:spPr>
          <a:xfrm>
            <a:off x="274320" y="2105388"/>
            <a:ext cx="4297680" cy="153180"/>
          </a:xfrm>
          <a:prstGeom prst="rect">
            <a:avLst/>
          </a:prstGeom>
          <a:solidFill>
            <a:srgbClr val="FFF8E1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S18"/>
          <p:cNvSpPr/>
          <p:nvPr/>
        </p:nvSpPr>
        <p:spPr>
          <a:xfrm>
            <a:off x="347472" y="214196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city</a:t>
            </a:r>
            <a:endParaRPr lang="en-US" dirty="0"/>
          </a:p>
        </p:txBody>
      </p:sp>
      <p:sp>
        <p:nvSpPr>
          <p:cNvPr id="19" name="S19"/>
          <p:cNvSpPr/>
          <p:nvPr/>
        </p:nvSpPr>
        <p:spPr>
          <a:xfrm>
            <a:off x="1807472" y="214196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"Ankara" → "Istanbul"</a:t>
            </a:r>
            <a:endParaRPr lang="en-US" dirty="0"/>
          </a:p>
        </p:txBody>
      </p:sp>
      <p:sp>
        <p:nvSpPr>
          <p:cNvPr id="20" name="S20"/>
          <p:cNvSpPr/>
          <p:nvPr/>
        </p:nvSpPr>
        <p:spPr>
          <a:xfrm>
            <a:off x="274320" y="2258568"/>
            <a:ext cx="4297680" cy="153180"/>
          </a:xfrm>
          <a:prstGeom prst="rect">
            <a:avLst/>
          </a:prstGeom>
          <a:solidFill>
            <a:srgbClr val="E8F5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21"/>
          <p:cNvSpPr/>
          <p:nvPr/>
        </p:nvSpPr>
        <p:spPr>
          <a:xfrm>
            <a:off x="347472" y="229514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district</a:t>
            </a:r>
            <a:endParaRPr lang="en-US" dirty="0"/>
          </a:p>
        </p:txBody>
      </p:sp>
      <p:sp>
        <p:nvSpPr>
          <p:cNvPr id="22" name="S22"/>
          <p:cNvSpPr/>
          <p:nvPr/>
        </p:nvSpPr>
        <p:spPr>
          <a:xfrm>
            <a:off x="1807472" y="229514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"Cankaya" → "Besiktas"</a:t>
            </a:r>
            <a:endParaRPr lang="en-US" dirty="0"/>
          </a:p>
        </p:txBody>
      </p:sp>
      <p:sp>
        <p:nvSpPr>
          <p:cNvPr id="23" name="S23"/>
          <p:cNvSpPr/>
          <p:nvPr/>
        </p:nvSpPr>
        <p:spPr>
          <a:xfrm>
            <a:off x="274320" y="2411748"/>
            <a:ext cx="4297680" cy="153180"/>
          </a:xfrm>
          <a:prstGeom prst="rect">
            <a:avLst/>
          </a:prstGeom>
          <a:solidFill>
            <a:srgbClr val="FFF8E1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24"/>
          <p:cNvSpPr/>
          <p:nvPr/>
        </p:nvSpPr>
        <p:spPr>
          <a:xfrm>
            <a:off x="347472" y="244832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speed_kmh</a:t>
            </a:r>
            <a:endParaRPr lang="en-US" dirty="0"/>
          </a:p>
        </p:txBody>
      </p:sp>
      <p:sp>
        <p:nvSpPr>
          <p:cNvPr id="25" name="S25"/>
          <p:cNvSpPr/>
          <p:nvPr/>
        </p:nvSpPr>
        <p:spPr>
          <a:xfrm>
            <a:off x="1807472" y="244832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80 → 90</a:t>
            </a:r>
            <a:endParaRPr lang="en-US" dirty="0"/>
          </a:p>
        </p:txBody>
      </p:sp>
      <p:sp>
        <p:nvSpPr>
          <p:cNvPr id="26" name="S26"/>
          <p:cNvSpPr/>
          <p:nvPr/>
        </p:nvSpPr>
        <p:spPr>
          <a:xfrm>
            <a:off x="274320" y="2564928"/>
            <a:ext cx="4297680" cy="15318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27"/>
          <p:cNvSpPr/>
          <p:nvPr/>
        </p:nvSpPr>
        <p:spPr>
          <a:xfrm>
            <a:off x="347472" y="260150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endParaRPr lang="en-US" dirty="0"/>
          </a:p>
        </p:txBody>
      </p:sp>
      <p:sp>
        <p:nvSpPr>
          <p:cNvPr id="28" name="S28"/>
          <p:cNvSpPr/>
          <p:nvPr/>
        </p:nvSpPr>
        <p:spPr>
          <a:xfrm>
            <a:off x="1807472" y="260150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</a:rPr>
              <a:t>v1 → v2  (update)</a:t>
            </a:r>
            <a:endParaRPr lang="en-US" dirty="0"/>
          </a:p>
        </p:txBody>
      </p:sp>
      <p:sp>
        <p:nvSpPr>
          <p:cNvPr id="29" name="S29"/>
          <p:cNvSpPr/>
          <p:nvPr/>
        </p:nvSpPr>
        <p:spPr>
          <a:xfrm>
            <a:off x="274320" y="2718108"/>
            <a:ext cx="4297680" cy="15318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S30"/>
          <p:cNvSpPr/>
          <p:nvPr/>
        </p:nvSpPr>
        <p:spPr>
          <a:xfrm>
            <a:off x="347472" y="275468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write_concern</a:t>
            </a:r>
            <a:endParaRPr lang="en-US" dirty="0"/>
          </a:p>
        </p:txBody>
      </p:sp>
      <p:sp>
        <p:nvSpPr>
          <p:cNvPr id="31" name="S31"/>
          <p:cNvSpPr/>
          <p:nvPr/>
        </p:nvSpPr>
        <p:spPr>
          <a:xfrm>
            <a:off x="1807472" y="275468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</a:rPr>
              <a:t>"1"  ·  visible_on_follower ✓</a:t>
            </a:r>
            <a:endParaRPr lang="en-US" dirty="0"/>
          </a:p>
        </p:txBody>
      </p:sp>
      <p:sp>
        <p:nvSpPr>
          <p:cNvPr id="32" name="S32"/>
          <p:cNvSpPr/>
          <p:nvPr/>
        </p:nvSpPr>
        <p:spPr>
          <a:xfrm>
            <a:off x="4754640" y="102412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848"/>
                </a:solidFill>
              </a:rPr>
              <a:t>Read observations</a:t>
            </a:r>
            <a:endParaRPr lang="en-US" dirty="0"/>
          </a:p>
        </p:txBody>
      </p:sp>
      <p:sp>
        <p:nvSpPr>
          <p:cNvPr id="33" name="S33"/>
          <p:cNvSpPr/>
          <p:nvPr/>
        </p:nvSpPr>
        <p:spPr>
          <a:xfrm>
            <a:off x="4754640" y="13715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06"/>
                </a:solidFill>
              </a:rPr>
              <a:t>38.1 ms</a:t>
            </a:r>
            <a:endParaRPr lang="en-US" dirty="0"/>
          </a:p>
        </p:txBody>
      </p:sp>
      <p:sp>
        <p:nvSpPr>
          <p:cNvPr id="34" name="S34"/>
          <p:cNvSpPr/>
          <p:nvPr/>
        </p:nvSpPr>
        <p:spPr>
          <a:xfrm>
            <a:off x="4754640" y="17007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Write returned</a:t>
            </a:r>
            <a:endParaRPr lang="en-US" dirty="0"/>
          </a:p>
        </p:txBody>
      </p:sp>
      <p:sp>
        <p:nvSpPr>
          <p:cNvPr id="35" name="S35"/>
          <p:cNvSpPr/>
          <p:nvPr/>
        </p:nvSpPr>
        <p:spPr>
          <a:xfrm>
            <a:off x="5760480" y="13715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6848"/>
                </a:solidFill>
              </a:rPr>
              <a:t>11.4 ms</a:t>
            </a:r>
            <a:endParaRPr lang="en-US" dirty="0"/>
          </a:p>
        </p:txBody>
      </p:sp>
      <p:sp>
        <p:nvSpPr>
          <p:cNvPr id="36" name="S36"/>
          <p:cNvSpPr/>
          <p:nvPr/>
        </p:nvSpPr>
        <p:spPr>
          <a:xfrm>
            <a:off x="5760480" y="17007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PRIMARY read</a:t>
            </a:r>
            <a:endParaRPr lang="en-US" dirty="0"/>
          </a:p>
        </p:txBody>
      </p:sp>
      <p:sp>
        <p:nvSpPr>
          <p:cNvPr id="37" name="S37"/>
          <p:cNvSpPr/>
          <p:nvPr/>
        </p:nvSpPr>
        <p:spPr>
          <a:xfrm>
            <a:off x="6766320" y="13715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</a:rPr>
              <a:t>2 / 3</a:t>
            </a:r>
            <a:endParaRPr lang="en-US" dirty="0"/>
          </a:p>
        </p:txBody>
      </p:sp>
      <p:sp>
        <p:nvSpPr>
          <p:cNvPr id="38" name="S38"/>
          <p:cNvSpPr/>
          <p:nvPr/>
        </p:nvSpPr>
        <p:spPr>
          <a:xfrm>
            <a:off x="6766320" y="17007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Stale sec. reads</a:t>
            </a:r>
            <a:endParaRPr lang="en-US" dirty="0"/>
          </a:p>
        </p:txBody>
      </p:sp>
      <p:sp>
        <p:nvSpPr>
          <p:cNvPr id="39" name="S39"/>
          <p:cNvSpPr/>
          <p:nvPr/>
        </p:nvSpPr>
        <p:spPr>
          <a:xfrm>
            <a:off x="7772160" y="13715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06"/>
                </a:solidFill>
              </a:rPr>
              <a:t>1189 ms</a:t>
            </a:r>
            <a:endParaRPr lang="en-US" dirty="0"/>
          </a:p>
        </p:txBody>
      </p:sp>
      <p:sp>
        <p:nvSpPr>
          <p:cNvPr id="40" name="S40"/>
          <p:cNvSpPr/>
          <p:nvPr/>
        </p:nvSpPr>
        <p:spPr>
          <a:xfrm>
            <a:off x="7772160" y="17007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Consistency window</a:t>
            </a:r>
            <a:endParaRPr lang="en-US" dirty="0"/>
          </a:p>
        </p:txBody>
      </p:sp>
      <p:sp>
        <p:nvSpPr>
          <p:cNvPr id="41" name="S41"/>
          <p:cNvSpPr/>
          <p:nvPr/>
        </p:nvSpPr>
        <p:spPr>
          <a:xfrm>
            <a:off x="4754640" y="1929312"/>
            <a:ext cx="4023360" cy="286536"/>
          </a:xfrm>
          <a:prstGeom prst="rect">
            <a:avLst/>
          </a:prstGeom>
          <a:solidFill>
            <a:srgbClr val="ECFDF5"/>
          </a:solidFill>
          <a:ln w="1016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S42"/>
          <p:cNvSpPr/>
          <p:nvPr/>
        </p:nvSpPr>
        <p:spPr>
          <a:xfrm>
            <a:off x="4754640" y="1929312"/>
            <a:ext cx="64008" cy="286536"/>
          </a:xfrm>
          <a:prstGeom prst="rect">
            <a:avLst/>
          </a:prstGeom>
          <a:solidFill>
            <a:srgbClr val="006848"/>
          </a:solidFill>
          <a:ln w="1270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S43"/>
          <p:cNvSpPr/>
          <p:nvPr/>
        </p:nvSpPr>
        <p:spPr>
          <a:xfrm>
            <a:off x="4891800" y="1943796"/>
            <a:ext cx="3813048" cy="140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06848"/>
                </a:solidFill>
              </a:rPr>
              <a:t>PRIMARY always fresh  ✓</a:t>
            </a:r>
            <a:endParaRPr lang="en-US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Read PRIMARY at t=38 ms → v2 (Istanbul). Leader always serves its own committed write.</a:t>
            </a:r>
            <a:endParaRPr lang="en-US" dirty="0"/>
          </a:p>
        </p:txBody>
      </p:sp>
      <p:sp>
        <p:nvSpPr>
          <p:cNvPr id="44" name="S44"/>
          <p:cNvSpPr/>
          <p:nvPr/>
        </p:nvSpPr>
        <p:spPr>
          <a:xfrm>
            <a:off x="4754640" y="2261568"/>
            <a:ext cx="4023360" cy="286536"/>
          </a:xfrm>
          <a:prstGeom prst="rect">
            <a:avLst/>
          </a:prstGeom>
          <a:solidFill>
            <a:srgbClr val="FEE2E2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S45"/>
          <p:cNvSpPr/>
          <p:nvPr/>
        </p:nvSpPr>
        <p:spPr>
          <a:xfrm>
            <a:off x="4754640" y="2261568"/>
            <a:ext cx="64008" cy="2865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S46"/>
          <p:cNvSpPr/>
          <p:nvPr/>
        </p:nvSpPr>
        <p:spPr>
          <a:xfrm>
            <a:off x="4891800" y="2276052"/>
            <a:ext cx="3813048" cy="140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</a:rPr>
              <a:t>SECONDARY stale ✗ × 2</a:t>
            </a:r>
            <a:endParaRPr lang="en-US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Reads at 240 ms and 743 ms → still v1 (Ankara). Oplog not yet applied to replica.</a:t>
            </a:r>
            <a:endParaRPr lang="en-US" dirty="0"/>
          </a:p>
        </p:txBody>
      </p:sp>
      <p:sp>
        <p:nvSpPr>
          <p:cNvPr id="47" name="S47"/>
          <p:cNvSpPr/>
          <p:nvPr/>
        </p:nvSpPr>
        <p:spPr>
          <a:xfrm>
            <a:off x="4754640" y="2593824"/>
            <a:ext cx="4023360" cy="286536"/>
          </a:xfrm>
          <a:prstGeom prst="rect">
            <a:avLst/>
          </a:prstGeom>
          <a:solidFill>
            <a:srgbClr val="FEF3C7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S48"/>
          <p:cNvSpPr/>
          <p:nvPr/>
        </p:nvSpPr>
        <p:spPr>
          <a:xfrm>
            <a:off x="4754640" y="2593824"/>
            <a:ext cx="64008" cy="2865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S49"/>
          <p:cNvSpPr/>
          <p:nvPr/>
        </p:nvSpPr>
        <p:spPr>
          <a:xfrm>
            <a:off x="4891800" y="2608308"/>
            <a:ext cx="3813048" cy="140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</a:rPr>
              <a:t>Convergence at 1189 ms  ✓</a:t>
            </a:r>
            <a:endParaRPr lang="en-US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Read at t=1189 ms → v2 (Istanbul). secondaryDelaySecs=1 widened the window for observation.</a:t>
            </a:r>
            <a:endParaRPr lang="en-US" dirty="0"/>
          </a:p>
        </p:txBody>
      </p:sp>
      <p:sp>
        <p:nvSpPr>
          <p:cNvPr id="50" name="S50"/>
          <p:cNvSpPr/>
          <p:nvPr/>
        </p:nvSpPr>
        <p:spPr>
          <a:xfrm>
            <a:off x="365760" y="2926080"/>
            <a:ext cx="8412480" cy="2162628"/>
          </a:xfrm>
          <a:prstGeom prst="rect">
            <a:avLst/>
          </a:prstGeom>
          <a:solidFill>
            <a:srgbClr val="0D1117"/>
          </a:solidFill>
          <a:ln w="635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1" name="exp2" descr="exp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552" y="2980872"/>
            <a:ext cx="8302896" cy="205304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848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" name="S3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Experiment 3 — Read-After-Write Consistency</a:t>
            </a:r>
            <a:endParaRPr lang="en-US" dirty="0"/>
          </a:p>
        </p:txBody>
      </p:sp>
      <p:sp>
        <p:nvSpPr>
          <p:cNvPr id="4" name="S4"/>
          <p:cNvSpPr/>
          <p:nvPr/>
        </p:nvSpPr>
        <p:spPr>
          <a:xfrm>
            <a:off x="411480" y="5943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DFC8"/>
                </a:solidFill>
              </a:rPr>
              <a:t>INSERT into incidents (w=1, async)  ·  vehicle RAW-EXP  ·  breakdown / critical  ·  log_index: #885</a:t>
            </a:r>
            <a:endParaRPr lang="en-US" dirty="0"/>
          </a:p>
        </p:txBody>
      </p:sp>
      <p:sp>
        <p:nvSpPr>
          <p:cNvPr id="5" name="S5"/>
          <p:cNvSpPr/>
          <p:nvPr/>
        </p:nvSpPr>
        <p:spPr>
          <a:xfrm>
            <a:off x="274320" y="102412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848"/>
                </a:solidFill>
              </a:rPr>
              <a:t>What was written</a:t>
            </a:r>
            <a:endParaRPr lang="en-US" dirty="0"/>
          </a:p>
        </p:txBody>
      </p:sp>
      <p:sp>
        <p:nvSpPr>
          <p:cNvPr id="6" name="S6"/>
          <p:cNvSpPr/>
          <p:nvPr/>
        </p:nvSpPr>
        <p:spPr>
          <a:xfrm>
            <a:off x="274320" y="1371528"/>
            <a:ext cx="4297680" cy="274320"/>
          </a:xfrm>
          <a:prstGeom prst="rect">
            <a:avLst/>
          </a:prstGeom>
          <a:solidFill>
            <a:srgbClr val="0D1117"/>
          </a:solidFill>
          <a:ln w="635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S7"/>
          <p:cNvSpPr/>
          <p:nvPr/>
        </p:nvSpPr>
        <p:spPr>
          <a:xfrm>
            <a:off x="347472" y="1371528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r>
              <a:rPr lang="en-US" sz="950" dirty="0">
                <a:solidFill>
                  <a:srgbClr val="AADFC8"/>
                </a:solidFill>
              </a:rPr>
              <a:t>  ·  collection: </a:t>
            </a:r>
            <a:r>
              <a:rPr lang="en-US" sz="950" b="1" dirty="0">
                <a:solidFill>
                  <a:srgbClr val="00A8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incidents</a:t>
            </a:r>
            <a:r>
              <a:rPr lang="en-US" sz="950" dirty="0">
                <a:solidFill>
                  <a:srgbClr val="AADFC8"/>
                </a:solidFill>
              </a:rPr>
              <a:t>  ·  log_index: #885  ·  w=1 (async)</a:t>
            </a:r>
            <a:endParaRPr lang="en-US" dirty="0"/>
          </a:p>
        </p:txBody>
      </p:sp>
      <p:sp>
        <p:nvSpPr>
          <p:cNvPr id="8" name="S8"/>
          <p:cNvSpPr/>
          <p:nvPr/>
        </p:nvSpPr>
        <p:spPr>
          <a:xfrm>
            <a:off x="274320" y="1645848"/>
            <a:ext cx="4297680" cy="153180"/>
          </a:xfrm>
          <a:prstGeom prst="rect">
            <a:avLst/>
          </a:prstGeom>
          <a:solidFill>
            <a:srgbClr val="E8F5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S9"/>
          <p:cNvSpPr/>
          <p:nvPr/>
        </p:nvSpPr>
        <p:spPr>
          <a:xfrm>
            <a:off x="347472" y="168242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vehicle_id</a:t>
            </a:r>
            <a:endParaRPr lang="en-US" dirty="0"/>
          </a:p>
        </p:txBody>
      </p:sp>
      <p:sp>
        <p:nvSpPr>
          <p:cNvPr id="10" name="S10"/>
          <p:cNvSpPr/>
          <p:nvPr/>
        </p:nvSpPr>
        <p:spPr>
          <a:xfrm>
            <a:off x="1807472" y="168242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"RAW-EXP"</a:t>
            </a:r>
            <a:endParaRPr lang="en-US" dirty="0"/>
          </a:p>
        </p:txBody>
      </p:sp>
      <p:sp>
        <p:nvSpPr>
          <p:cNvPr id="11" name="S11"/>
          <p:cNvSpPr/>
          <p:nvPr/>
        </p:nvSpPr>
        <p:spPr>
          <a:xfrm>
            <a:off x="274320" y="1799028"/>
            <a:ext cx="4297680" cy="1531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S12"/>
          <p:cNvSpPr/>
          <p:nvPr/>
        </p:nvSpPr>
        <p:spPr>
          <a:xfrm>
            <a:off x="347472" y="183560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incident_type</a:t>
            </a:r>
            <a:endParaRPr lang="en-US" dirty="0"/>
          </a:p>
        </p:txBody>
      </p:sp>
      <p:sp>
        <p:nvSpPr>
          <p:cNvPr id="13" name="S13"/>
          <p:cNvSpPr/>
          <p:nvPr/>
        </p:nvSpPr>
        <p:spPr>
          <a:xfrm>
            <a:off x="1807472" y="183560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"breakdown"</a:t>
            </a:r>
            <a:endParaRPr lang="en-US" dirty="0"/>
          </a:p>
        </p:txBody>
      </p:sp>
      <p:sp>
        <p:nvSpPr>
          <p:cNvPr id="14" name="S14"/>
          <p:cNvSpPr/>
          <p:nvPr/>
        </p:nvSpPr>
        <p:spPr>
          <a:xfrm>
            <a:off x="274320" y="1952208"/>
            <a:ext cx="4297680" cy="15318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" name="S15"/>
          <p:cNvSpPr/>
          <p:nvPr/>
        </p:nvSpPr>
        <p:spPr>
          <a:xfrm>
            <a:off x="347472" y="198878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severity</a:t>
            </a:r>
            <a:endParaRPr lang="en-US" dirty="0"/>
          </a:p>
        </p:txBody>
      </p:sp>
      <p:sp>
        <p:nvSpPr>
          <p:cNvPr id="16" name="S16"/>
          <p:cNvSpPr/>
          <p:nvPr/>
        </p:nvSpPr>
        <p:spPr>
          <a:xfrm>
            <a:off x="1807472" y="198878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</a:rPr>
              <a:t>"critical"</a:t>
            </a:r>
            <a:endParaRPr lang="en-US" dirty="0"/>
          </a:p>
        </p:txBody>
      </p:sp>
      <p:sp>
        <p:nvSpPr>
          <p:cNvPr id="17" name="S17"/>
          <p:cNvSpPr/>
          <p:nvPr/>
        </p:nvSpPr>
        <p:spPr>
          <a:xfrm>
            <a:off x="274320" y="2105388"/>
            <a:ext cx="4297680" cy="153180"/>
          </a:xfrm>
          <a:prstGeom prst="rect">
            <a:avLst/>
          </a:prstGeom>
          <a:solidFill>
            <a:srgbClr val="E8F5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S18"/>
          <p:cNvSpPr/>
          <p:nvPr/>
        </p:nvSpPr>
        <p:spPr>
          <a:xfrm>
            <a:off x="347472" y="214196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description</a:t>
            </a:r>
            <a:endParaRPr lang="en-US" dirty="0"/>
          </a:p>
        </p:txBody>
      </p:sp>
      <p:sp>
        <p:nvSpPr>
          <p:cNvPr id="19" name="S19"/>
          <p:cNvSpPr/>
          <p:nvPr/>
        </p:nvSpPr>
        <p:spPr>
          <a:xfrm>
            <a:off x="1807472" y="214196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"RAW demo — dispatcher files incident"</a:t>
            </a:r>
            <a:endParaRPr lang="en-US" dirty="0"/>
          </a:p>
        </p:txBody>
      </p:sp>
      <p:sp>
        <p:nvSpPr>
          <p:cNvPr id="20" name="S20"/>
          <p:cNvSpPr/>
          <p:nvPr/>
        </p:nvSpPr>
        <p:spPr>
          <a:xfrm>
            <a:off x="274320" y="2258568"/>
            <a:ext cx="4297680" cy="1531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1" name="S21"/>
          <p:cNvSpPr/>
          <p:nvPr/>
        </p:nvSpPr>
        <p:spPr>
          <a:xfrm>
            <a:off x="347472" y="229514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lat / lng</a:t>
            </a:r>
            <a:endParaRPr lang="en-US" dirty="0"/>
          </a:p>
        </p:txBody>
      </p:sp>
      <p:sp>
        <p:nvSpPr>
          <p:cNvPr id="22" name="S22"/>
          <p:cNvSpPr/>
          <p:nvPr/>
        </p:nvSpPr>
        <p:spPr>
          <a:xfrm>
            <a:off x="1807472" y="229514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null / null</a:t>
            </a:r>
            <a:endParaRPr lang="en-US" dirty="0"/>
          </a:p>
        </p:txBody>
      </p:sp>
      <p:sp>
        <p:nvSpPr>
          <p:cNvPr id="23" name="S23"/>
          <p:cNvSpPr/>
          <p:nvPr/>
        </p:nvSpPr>
        <p:spPr>
          <a:xfrm>
            <a:off x="274320" y="2411748"/>
            <a:ext cx="4297680" cy="153180"/>
          </a:xfrm>
          <a:prstGeom prst="rect">
            <a:avLst/>
          </a:prstGeom>
          <a:solidFill>
            <a:srgbClr val="E8F5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4" name="S24"/>
          <p:cNvSpPr/>
          <p:nvPr/>
        </p:nvSpPr>
        <p:spPr>
          <a:xfrm>
            <a:off x="347472" y="244832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resolved</a:t>
            </a:r>
            <a:endParaRPr lang="en-US" dirty="0"/>
          </a:p>
        </p:txBody>
      </p:sp>
      <p:sp>
        <p:nvSpPr>
          <p:cNvPr id="25" name="S25"/>
          <p:cNvSpPr/>
          <p:nvPr/>
        </p:nvSpPr>
        <p:spPr>
          <a:xfrm>
            <a:off x="1807472" y="244832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endParaRPr lang="en-US" dirty="0"/>
          </a:p>
        </p:txBody>
      </p:sp>
      <p:sp>
        <p:nvSpPr>
          <p:cNvPr id="26" name="S26"/>
          <p:cNvSpPr/>
          <p:nvPr/>
        </p:nvSpPr>
        <p:spPr>
          <a:xfrm>
            <a:off x="274320" y="2564928"/>
            <a:ext cx="4297680" cy="15318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7" name="S27"/>
          <p:cNvSpPr/>
          <p:nvPr/>
        </p:nvSpPr>
        <p:spPr>
          <a:xfrm>
            <a:off x="347472" y="260150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version</a:t>
            </a:r>
            <a:endParaRPr lang="en-US" dirty="0"/>
          </a:p>
        </p:txBody>
      </p:sp>
      <p:sp>
        <p:nvSpPr>
          <p:cNvPr id="28" name="S28"/>
          <p:cNvSpPr/>
          <p:nvPr/>
        </p:nvSpPr>
        <p:spPr>
          <a:xfrm>
            <a:off x="1807472" y="260150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</a:rPr>
              <a:t>null → v1  (new document)</a:t>
            </a:r>
            <a:endParaRPr lang="en-US" dirty="0"/>
          </a:p>
        </p:txBody>
      </p:sp>
      <p:sp>
        <p:nvSpPr>
          <p:cNvPr id="29" name="S29"/>
          <p:cNvSpPr/>
          <p:nvPr/>
        </p:nvSpPr>
        <p:spPr>
          <a:xfrm>
            <a:off x="274320" y="2718108"/>
            <a:ext cx="4297680" cy="153180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0" name="S30"/>
          <p:cNvSpPr/>
          <p:nvPr/>
        </p:nvSpPr>
        <p:spPr>
          <a:xfrm>
            <a:off x="347472" y="275468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</a:t>
            </a:r>
            <a:endParaRPr lang="en-US" dirty="0"/>
          </a:p>
        </p:txBody>
      </p:sp>
      <p:sp>
        <p:nvSpPr>
          <p:cNvPr id="31" name="S31"/>
          <p:cNvSpPr/>
          <p:nvPr/>
        </p:nvSpPr>
        <p:spPr>
          <a:xfrm>
            <a:off x="1807472" y="275468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C2626"/>
                </a:solidFill>
              </a:rPr>
              <a:t>pending_follower (not yet on SECONDARY)</a:t>
            </a:r>
            <a:endParaRPr lang="en-US" dirty="0"/>
          </a:p>
        </p:txBody>
      </p:sp>
      <p:sp>
        <p:nvSpPr>
          <p:cNvPr id="32" name="S32"/>
          <p:cNvSpPr/>
          <p:nvPr/>
        </p:nvSpPr>
        <p:spPr>
          <a:xfrm>
            <a:off x="4754640" y="102412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848"/>
                </a:solidFill>
              </a:rPr>
              <a:t>Read paths &amp; metrics</a:t>
            </a:r>
            <a:endParaRPr lang="en-US" dirty="0"/>
          </a:p>
        </p:txBody>
      </p:sp>
      <p:sp>
        <p:nvSpPr>
          <p:cNvPr id="33" name="S33"/>
          <p:cNvSpPr/>
          <p:nvPr/>
        </p:nvSpPr>
        <p:spPr>
          <a:xfrm>
            <a:off x="4754640" y="13715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97706"/>
                </a:solidFill>
              </a:rPr>
              <a:t>25.7 ms</a:t>
            </a:r>
            <a:endParaRPr lang="en-US" dirty="0"/>
          </a:p>
        </p:txBody>
      </p:sp>
      <p:sp>
        <p:nvSpPr>
          <p:cNvPr id="34" name="S34"/>
          <p:cNvSpPr/>
          <p:nvPr/>
        </p:nvSpPr>
        <p:spPr>
          <a:xfrm>
            <a:off x="4754640" y="17007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Write returned (async)</a:t>
            </a:r>
            <a:endParaRPr lang="en-US" dirty="0"/>
          </a:p>
        </p:txBody>
      </p:sp>
      <p:sp>
        <p:nvSpPr>
          <p:cNvPr id="35" name="S35"/>
          <p:cNvSpPr/>
          <p:nvPr/>
        </p:nvSpPr>
        <p:spPr>
          <a:xfrm>
            <a:off x="5760480" y="13715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6848"/>
                </a:solidFill>
              </a:rPr>
              <a:t>7.6 ms</a:t>
            </a:r>
            <a:endParaRPr lang="en-US" dirty="0"/>
          </a:p>
        </p:txBody>
      </p:sp>
      <p:sp>
        <p:nvSpPr>
          <p:cNvPr id="36" name="S36"/>
          <p:cNvSpPr/>
          <p:nvPr/>
        </p:nvSpPr>
        <p:spPr>
          <a:xfrm>
            <a:off x="5760480" y="17007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PRIMARY read (RAW)</a:t>
            </a:r>
            <a:endParaRPr lang="en-US" dirty="0"/>
          </a:p>
        </p:txBody>
      </p:sp>
      <p:sp>
        <p:nvSpPr>
          <p:cNvPr id="37" name="S37"/>
          <p:cNvSpPr/>
          <p:nvPr/>
        </p:nvSpPr>
        <p:spPr>
          <a:xfrm>
            <a:off x="6766320" y="13715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DC2626"/>
                </a:solidFill>
              </a:rPr>
              <a:t>stale</a:t>
            </a:r>
            <a:endParaRPr lang="en-US" dirty="0"/>
          </a:p>
        </p:txBody>
      </p:sp>
      <p:sp>
        <p:nvSpPr>
          <p:cNvPr id="38" name="S38"/>
          <p:cNvSpPr/>
          <p:nvPr/>
        </p:nvSpPr>
        <p:spPr>
          <a:xfrm>
            <a:off x="6766320" y="17007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SECONDARY read</a:t>
            </a:r>
            <a:endParaRPr lang="en-US" dirty="0"/>
          </a:p>
        </p:txBody>
      </p:sp>
      <p:sp>
        <p:nvSpPr>
          <p:cNvPr id="39" name="S39"/>
          <p:cNvSpPr/>
          <p:nvPr/>
        </p:nvSpPr>
        <p:spPr>
          <a:xfrm>
            <a:off x="7772160" y="137152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</a:rPr>
              <a:t>~37 ms</a:t>
            </a:r>
            <a:endParaRPr lang="en-US" dirty="0"/>
          </a:p>
        </p:txBody>
      </p:sp>
      <p:sp>
        <p:nvSpPr>
          <p:cNvPr id="40" name="S40"/>
          <p:cNvSpPr/>
          <p:nvPr/>
        </p:nvSpPr>
        <p:spPr>
          <a:xfrm>
            <a:off x="7772160" y="170071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Secondary sync delay</a:t>
            </a:r>
            <a:endParaRPr lang="en-US" dirty="0"/>
          </a:p>
        </p:txBody>
      </p:sp>
      <p:sp>
        <p:nvSpPr>
          <p:cNvPr id="41" name="S41"/>
          <p:cNvSpPr/>
          <p:nvPr/>
        </p:nvSpPr>
        <p:spPr>
          <a:xfrm>
            <a:off x="4754640" y="1929312"/>
            <a:ext cx="4023360" cy="286536"/>
          </a:xfrm>
          <a:prstGeom prst="rect">
            <a:avLst/>
          </a:prstGeom>
          <a:solidFill>
            <a:srgbClr val="ECFDF5"/>
          </a:solidFill>
          <a:ln w="1016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2" name="S42"/>
          <p:cNvSpPr/>
          <p:nvPr/>
        </p:nvSpPr>
        <p:spPr>
          <a:xfrm>
            <a:off x="4754640" y="1929312"/>
            <a:ext cx="64008" cy="286536"/>
          </a:xfrm>
          <a:prstGeom prst="rect">
            <a:avLst/>
          </a:prstGeom>
          <a:solidFill>
            <a:srgbClr val="006848"/>
          </a:solidFill>
          <a:ln w="1270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3" name="S43"/>
          <p:cNvSpPr/>
          <p:nvPr/>
        </p:nvSpPr>
        <p:spPr>
          <a:xfrm>
            <a:off x="4891800" y="1943796"/>
            <a:ext cx="3813048" cy="140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06848"/>
                </a:solidFill>
              </a:rPr>
              <a:t>RAW path (correct)  ✓</a:t>
            </a:r>
            <a:endParaRPr lang="en-US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Read from PRIMARY → v1 in 7.6 ms. Dispatcher always sees its own write.</a:t>
            </a:r>
            <a:endParaRPr lang="en-US" dirty="0"/>
          </a:p>
        </p:txBody>
      </p:sp>
      <p:sp>
        <p:nvSpPr>
          <p:cNvPr id="44" name="S44"/>
          <p:cNvSpPr/>
          <p:nvPr/>
        </p:nvSpPr>
        <p:spPr>
          <a:xfrm>
            <a:off x="4754640" y="2261568"/>
            <a:ext cx="4023360" cy="286536"/>
          </a:xfrm>
          <a:prstGeom prst="rect">
            <a:avLst/>
          </a:prstGeom>
          <a:solidFill>
            <a:srgbClr val="FEE2E2"/>
          </a:solidFill>
          <a:ln w="1016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5" name="S45"/>
          <p:cNvSpPr/>
          <p:nvPr/>
        </p:nvSpPr>
        <p:spPr>
          <a:xfrm>
            <a:off x="4754640" y="2261568"/>
            <a:ext cx="64008" cy="286536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6" name="S46"/>
          <p:cNvSpPr/>
          <p:nvPr/>
        </p:nvSpPr>
        <p:spPr>
          <a:xfrm>
            <a:off x="4891800" y="2279490"/>
            <a:ext cx="3813048" cy="140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DC2626"/>
                </a:solidFill>
              </a:rPr>
              <a:t>Wrong path (stale)  ✗</a:t>
            </a:r>
            <a:endParaRPr lang="en-US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SECONDARY → doc not visible at t=33 ms. Async lag; syncs at t≈62 ms.</a:t>
            </a:r>
            <a:endParaRPr lang="en-US" dirty="0"/>
          </a:p>
        </p:txBody>
      </p:sp>
      <p:sp>
        <p:nvSpPr>
          <p:cNvPr id="47" name="S47"/>
          <p:cNvSpPr/>
          <p:nvPr/>
        </p:nvSpPr>
        <p:spPr>
          <a:xfrm>
            <a:off x="4754640" y="2593824"/>
            <a:ext cx="4023360" cy="286536"/>
          </a:xfrm>
          <a:prstGeom prst="rect">
            <a:avLst/>
          </a:prstGeom>
          <a:solidFill>
            <a:srgbClr val="FEF3C7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8" name="S48"/>
          <p:cNvSpPr/>
          <p:nvPr/>
        </p:nvSpPr>
        <p:spPr>
          <a:xfrm>
            <a:off x="4754640" y="2593824"/>
            <a:ext cx="64008" cy="286536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9" name="S49"/>
          <p:cNvSpPr/>
          <p:nvPr/>
        </p:nvSpPr>
        <p:spPr>
          <a:xfrm>
            <a:off x="4891800" y="2614787"/>
            <a:ext cx="3813048" cy="140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</a:rPr>
              <a:t>Fix  (DDIA Fig. 5-3)</a:t>
            </a:r>
            <a:endParaRPr lang="en-US" dirty="0"/>
          </a:p>
          <a:p>
            <a:pPr marL="0" indent="0">
              <a:buNone/>
            </a:pPr>
            <a:r>
              <a:rPr lang="en-US" sz="850" dirty="0">
                <a:solidFill>
                  <a:srgbClr val="1A1A2E"/>
                </a:solidFill>
              </a:rPr>
              <a:t>Route post-write reads to PRIMARY. Keeps 25.7 ms async speed + guarantees self-read.</a:t>
            </a:r>
            <a:endParaRPr lang="en-US" dirty="0"/>
          </a:p>
        </p:txBody>
      </p:sp>
      <p:sp>
        <p:nvSpPr>
          <p:cNvPr id="51" name="S51"/>
          <p:cNvSpPr/>
          <p:nvPr/>
        </p:nvSpPr>
        <p:spPr>
          <a:xfrm>
            <a:off x="365760" y="2926080"/>
            <a:ext cx="8412480" cy="2162628"/>
          </a:xfrm>
          <a:prstGeom prst="rect">
            <a:avLst/>
          </a:prstGeom>
          <a:solidFill>
            <a:srgbClr val="0D111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50" name="exp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552" y="2980872"/>
            <a:ext cx="8302896" cy="205304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848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" name="S3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Experiment 4 — Monotonic Reads</a:t>
            </a:r>
            <a:endParaRPr lang="en-US" dirty="0"/>
          </a:p>
        </p:txBody>
      </p:sp>
      <p:sp>
        <p:nvSpPr>
          <p:cNvPr id="4" name="S4"/>
          <p:cNvSpPr/>
          <p:nvPr/>
        </p:nvSpPr>
        <p:spPr>
          <a:xfrm>
            <a:off x="411480" y="5943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DFC8"/>
                </a:solidFill>
              </a:rPr>
              <a:t>shipments · MON-EXP · Writer: v1→v2→v3 (w=1)  ·  Reader: 5 reads from SECONDARY  ·  DDIA Fig. 5-4</a:t>
            </a:r>
            <a:endParaRPr lang="en-US" dirty="0"/>
          </a:p>
        </p:txBody>
      </p:sp>
      <p:sp>
        <p:nvSpPr>
          <p:cNvPr id="5" name="S5"/>
          <p:cNvSpPr/>
          <p:nvPr/>
        </p:nvSpPr>
        <p:spPr>
          <a:xfrm>
            <a:off x="274320" y="1024128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848"/>
                </a:solidFill>
              </a:rPr>
              <a:t>What was written (Writer thread)</a:t>
            </a:r>
            <a:endParaRPr lang="en-US" dirty="0"/>
          </a:p>
        </p:txBody>
      </p:sp>
      <p:sp>
        <p:nvSpPr>
          <p:cNvPr id="6" name="S6"/>
          <p:cNvSpPr/>
          <p:nvPr/>
        </p:nvSpPr>
        <p:spPr>
          <a:xfrm>
            <a:off x="274320" y="1371528"/>
            <a:ext cx="4297680" cy="274320"/>
          </a:xfrm>
          <a:prstGeom prst="rect">
            <a:avLst/>
          </a:prstGeom>
          <a:solidFill>
            <a:srgbClr val="0D1117"/>
          </a:solidFill>
          <a:ln w="635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S7"/>
          <p:cNvSpPr/>
          <p:nvPr/>
        </p:nvSpPr>
        <p:spPr>
          <a:xfrm>
            <a:off x="347472" y="1371528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</a:t>
            </a:r>
            <a:r>
              <a:rPr lang="en-US" sz="950" dirty="0">
                <a:solidFill>
                  <a:srgbClr val="AADFC8"/>
                </a:solidFill>
              </a:rPr>
              <a:t> + 2 UPDATEs  ·  collection: </a:t>
            </a:r>
            <a:r>
              <a:rPr lang="en-US" sz="950" b="1" dirty="0">
                <a:solidFill>
                  <a:srgbClr val="00A8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shipments</a:t>
            </a:r>
            <a:r>
              <a:rPr lang="en-US" sz="950" dirty="0">
                <a:solidFill>
                  <a:srgbClr val="AADFC8"/>
                </a:solidFill>
              </a:rPr>
              <a:t>  ·  MON-EXP  ·  DEP-IST → DEP-ANK  ·  w=1</a:t>
            </a:r>
            <a:endParaRPr lang="en-US" dirty="0"/>
          </a:p>
        </p:txBody>
      </p:sp>
      <p:sp>
        <p:nvSpPr>
          <p:cNvPr id="8" name="S8"/>
          <p:cNvSpPr/>
          <p:nvPr/>
        </p:nvSpPr>
        <p:spPr>
          <a:xfrm>
            <a:off x="274320" y="1645848"/>
            <a:ext cx="4297680" cy="136160"/>
          </a:xfrm>
          <a:prstGeom prst="rect">
            <a:avLst/>
          </a:prstGeom>
          <a:solidFill>
            <a:srgbClr val="E8F5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S9"/>
          <p:cNvSpPr/>
          <p:nvPr/>
        </p:nvSpPr>
        <p:spPr>
          <a:xfrm>
            <a:off x="347472" y="1682424"/>
            <a:ext cx="1313696" cy="6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shipment_id</a:t>
            </a:r>
            <a:endParaRPr lang="en-US" dirty="0"/>
          </a:p>
        </p:txBody>
      </p:sp>
      <p:sp>
        <p:nvSpPr>
          <p:cNvPr id="10" name="S10"/>
          <p:cNvSpPr/>
          <p:nvPr/>
        </p:nvSpPr>
        <p:spPr>
          <a:xfrm>
            <a:off x="1807472" y="1682424"/>
            <a:ext cx="2691376" cy="6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"MON-EXP"</a:t>
            </a:r>
            <a:endParaRPr lang="en-US" dirty="0"/>
          </a:p>
        </p:txBody>
      </p:sp>
      <p:sp>
        <p:nvSpPr>
          <p:cNvPr id="11" name="S11"/>
          <p:cNvSpPr/>
          <p:nvPr/>
        </p:nvSpPr>
        <p:spPr>
          <a:xfrm>
            <a:off x="274320" y="1782008"/>
            <a:ext cx="4297680" cy="13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S12"/>
          <p:cNvSpPr/>
          <p:nvPr/>
        </p:nvSpPr>
        <p:spPr>
          <a:xfrm>
            <a:off x="347472" y="1818584"/>
            <a:ext cx="1313696" cy="6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origin_depot</a:t>
            </a:r>
            <a:endParaRPr lang="en-US" dirty="0"/>
          </a:p>
        </p:txBody>
      </p:sp>
      <p:sp>
        <p:nvSpPr>
          <p:cNvPr id="13" name="S13"/>
          <p:cNvSpPr/>
          <p:nvPr/>
        </p:nvSpPr>
        <p:spPr>
          <a:xfrm>
            <a:off x="1807472" y="1818584"/>
            <a:ext cx="2691376" cy="6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"DEP-IST"</a:t>
            </a:r>
            <a:endParaRPr lang="en-US" dirty="0"/>
          </a:p>
        </p:txBody>
      </p:sp>
      <p:sp>
        <p:nvSpPr>
          <p:cNvPr id="14" name="S14"/>
          <p:cNvSpPr/>
          <p:nvPr/>
        </p:nvSpPr>
        <p:spPr>
          <a:xfrm>
            <a:off x="274320" y="1918168"/>
            <a:ext cx="4297680" cy="136160"/>
          </a:xfrm>
          <a:prstGeom prst="rect">
            <a:avLst/>
          </a:prstGeom>
          <a:solidFill>
            <a:srgbClr val="E8F5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" name="S15"/>
          <p:cNvSpPr/>
          <p:nvPr/>
        </p:nvSpPr>
        <p:spPr>
          <a:xfrm>
            <a:off x="347472" y="1954744"/>
            <a:ext cx="1313696" cy="6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destination_depot</a:t>
            </a:r>
            <a:endParaRPr lang="en-US" dirty="0"/>
          </a:p>
        </p:txBody>
      </p:sp>
      <p:sp>
        <p:nvSpPr>
          <p:cNvPr id="16" name="S16"/>
          <p:cNvSpPr/>
          <p:nvPr/>
        </p:nvSpPr>
        <p:spPr>
          <a:xfrm>
            <a:off x="1807472" y="1954744"/>
            <a:ext cx="2691376" cy="6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"DEP-ANK"</a:t>
            </a:r>
            <a:endParaRPr lang="en-US" dirty="0"/>
          </a:p>
        </p:txBody>
      </p:sp>
      <p:sp>
        <p:nvSpPr>
          <p:cNvPr id="17" name="S17"/>
          <p:cNvSpPr/>
          <p:nvPr/>
        </p:nvSpPr>
        <p:spPr>
          <a:xfrm>
            <a:off x="274320" y="2054328"/>
            <a:ext cx="4297680" cy="13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S18"/>
          <p:cNvSpPr/>
          <p:nvPr/>
        </p:nvSpPr>
        <p:spPr>
          <a:xfrm>
            <a:off x="347472" y="2090904"/>
            <a:ext cx="1313696" cy="6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customer</a:t>
            </a:r>
            <a:endParaRPr lang="en-US" dirty="0"/>
          </a:p>
        </p:txBody>
      </p:sp>
      <p:sp>
        <p:nvSpPr>
          <p:cNvPr id="19" name="S19"/>
          <p:cNvSpPr/>
          <p:nvPr/>
        </p:nvSpPr>
        <p:spPr>
          <a:xfrm>
            <a:off x="1807472" y="2090904"/>
            <a:ext cx="2691376" cy="6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"MonotonicTest"</a:t>
            </a:r>
            <a:endParaRPr lang="en-US" dirty="0"/>
          </a:p>
        </p:txBody>
      </p:sp>
      <p:sp>
        <p:nvSpPr>
          <p:cNvPr id="20" name="S20"/>
          <p:cNvSpPr/>
          <p:nvPr/>
        </p:nvSpPr>
        <p:spPr>
          <a:xfrm>
            <a:off x="274320" y="2190488"/>
            <a:ext cx="4297680" cy="136160"/>
          </a:xfrm>
          <a:prstGeom prst="rect">
            <a:avLst/>
          </a:prstGeom>
          <a:solidFill>
            <a:srgbClr val="E8F5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1" name="S21"/>
          <p:cNvSpPr/>
          <p:nvPr/>
        </p:nvSpPr>
        <p:spPr>
          <a:xfrm>
            <a:off x="347472" y="2227064"/>
            <a:ext cx="1313696" cy="6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weight_kg</a:t>
            </a:r>
            <a:endParaRPr lang="en-US" dirty="0"/>
          </a:p>
        </p:txBody>
      </p:sp>
      <p:sp>
        <p:nvSpPr>
          <p:cNvPr id="22" name="S22"/>
          <p:cNvSpPr/>
          <p:nvPr/>
        </p:nvSpPr>
        <p:spPr>
          <a:xfrm>
            <a:off x="1807472" y="2227064"/>
            <a:ext cx="2691376" cy="6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</a:t>
            </a:r>
            <a:endParaRPr lang="en-US" dirty="0"/>
          </a:p>
        </p:txBody>
      </p:sp>
      <p:sp>
        <p:nvSpPr>
          <p:cNvPr id="23" name="S23"/>
          <p:cNvSpPr/>
          <p:nvPr/>
        </p:nvSpPr>
        <p:spPr>
          <a:xfrm>
            <a:off x="274320" y="2326648"/>
            <a:ext cx="4297680" cy="1361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4" name="S24"/>
          <p:cNvSpPr/>
          <p:nvPr/>
        </p:nvSpPr>
        <p:spPr>
          <a:xfrm>
            <a:off x="347472" y="2363224"/>
            <a:ext cx="1313696" cy="6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package_count</a:t>
            </a:r>
            <a:endParaRPr lang="en-US" dirty="0"/>
          </a:p>
        </p:txBody>
      </p:sp>
      <p:sp>
        <p:nvSpPr>
          <p:cNvPr id="25" name="S25"/>
          <p:cNvSpPr/>
          <p:nvPr/>
        </p:nvSpPr>
        <p:spPr>
          <a:xfrm>
            <a:off x="1807472" y="2363224"/>
            <a:ext cx="2691376" cy="6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dirty="0"/>
          </a:p>
        </p:txBody>
      </p:sp>
      <p:sp>
        <p:nvSpPr>
          <p:cNvPr id="26" name="S26"/>
          <p:cNvSpPr/>
          <p:nvPr/>
        </p:nvSpPr>
        <p:spPr>
          <a:xfrm>
            <a:off x="274320" y="2462808"/>
            <a:ext cx="4297680" cy="13616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7" name="S27"/>
          <p:cNvSpPr/>
          <p:nvPr/>
        </p:nvSpPr>
        <p:spPr>
          <a:xfrm>
            <a:off x="347472" y="2499384"/>
            <a:ext cx="1313696" cy="6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 → status</a:t>
            </a:r>
            <a:endParaRPr lang="en-US" dirty="0"/>
          </a:p>
        </p:txBody>
      </p:sp>
      <p:sp>
        <p:nvSpPr>
          <p:cNvPr id="28" name="S28"/>
          <p:cNvSpPr/>
          <p:nvPr/>
        </p:nvSpPr>
        <p:spPr>
          <a:xfrm>
            <a:off x="1807472" y="2499384"/>
            <a:ext cx="2691376" cy="6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</a:rPr>
              <a:t>"pending"   (INSERT)</a:t>
            </a:r>
            <a:endParaRPr lang="en-US" dirty="0"/>
          </a:p>
        </p:txBody>
      </p:sp>
      <p:sp>
        <p:nvSpPr>
          <p:cNvPr id="29" name="S29"/>
          <p:cNvSpPr/>
          <p:nvPr/>
        </p:nvSpPr>
        <p:spPr>
          <a:xfrm>
            <a:off x="274320" y="2598968"/>
            <a:ext cx="4297680" cy="13616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0" name="S30"/>
          <p:cNvSpPr/>
          <p:nvPr/>
        </p:nvSpPr>
        <p:spPr>
          <a:xfrm>
            <a:off x="347472" y="2635544"/>
            <a:ext cx="1313696" cy="6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6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 → status</a:t>
            </a:r>
            <a:endParaRPr lang="en-US" dirty="0"/>
          </a:p>
        </p:txBody>
      </p:sp>
      <p:sp>
        <p:nvSpPr>
          <p:cNvPr id="31" name="S31"/>
          <p:cNvSpPr/>
          <p:nvPr/>
        </p:nvSpPr>
        <p:spPr>
          <a:xfrm>
            <a:off x="1807472" y="2635544"/>
            <a:ext cx="2691376" cy="6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64C8"/>
                </a:solidFill>
              </a:rPr>
              <a:t>"in_transit"  (UPDATE)</a:t>
            </a:r>
            <a:endParaRPr lang="en-US" dirty="0"/>
          </a:p>
        </p:txBody>
      </p:sp>
      <p:sp>
        <p:nvSpPr>
          <p:cNvPr id="32" name="S32"/>
          <p:cNvSpPr/>
          <p:nvPr/>
        </p:nvSpPr>
        <p:spPr>
          <a:xfrm>
            <a:off x="274320" y="2735128"/>
            <a:ext cx="4297680" cy="13616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3" name="S33"/>
          <p:cNvSpPr/>
          <p:nvPr/>
        </p:nvSpPr>
        <p:spPr>
          <a:xfrm>
            <a:off x="347472" y="2771704"/>
            <a:ext cx="1313696" cy="6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v3 → status</a:t>
            </a:r>
            <a:endParaRPr lang="en-US" dirty="0"/>
          </a:p>
        </p:txBody>
      </p:sp>
      <p:sp>
        <p:nvSpPr>
          <p:cNvPr id="34" name="S34"/>
          <p:cNvSpPr/>
          <p:nvPr/>
        </p:nvSpPr>
        <p:spPr>
          <a:xfrm>
            <a:off x="1807472" y="2771704"/>
            <a:ext cx="2691376" cy="63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</a:rPr>
              <a:t>"delivered"   (UPDATE) ✓</a:t>
            </a:r>
            <a:endParaRPr lang="en-US" dirty="0"/>
          </a:p>
        </p:txBody>
      </p:sp>
      <p:sp>
        <p:nvSpPr>
          <p:cNvPr id="35" name="S35"/>
          <p:cNvSpPr/>
          <p:nvPr/>
        </p:nvSpPr>
        <p:spPr>
          <a:xfrm>
            <a:off x="4754640" y="102412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848"/>
                </a:solidFill>
              </a:rPr>
              <a:t>Read sequence (Reader from SECONDARY)</a:t>
            </a:r>
            <a:endParaRPr lang="en-US" dirty="0"/>
          </a:p>
        </p:txBody>
      </p:sp>
      <p:sp>
        <p:nvSpPr>
          <p:cNvPr id="36" name="S36"/>
          <p:cNvSpPr/>
          <p:nvPr/>
        </p:nvSpPr>
        <p:spPr>
          <a:xfrm>
            <a:off x="4754640" y="1371528"/>
            <a:ext cx="2011680" cy="310000"/>
          </a:xfrm>
          <a:prstGeom prst="rect">
            <a:avLst/>
          </a:prstGeom>
          <a:solidFill>
            <a:srgbClr val="FEF3C7"/>
          </a:solidFill>
          <a:ln w="635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7" name="S37"/>
          <p:cNvSpPr/>
          <p:nvPr/>
        </p:nvSpPr>
        <p:spPr>
          <a:xfrm>
            <a:off x="4827792" y="1371528"/>
            <a:ext cx="2011680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D97706"/>
                </a:solidFill>
              </a:rPr>
              <a:t>Writer wrote: </a:t>
            </a:r>
            <a:r>
              <a:rPr lang="en-US" sz="980" dirty="0">
                <a:solidFill>
                  <a:srgbClr val="1A1A2E"/>
                </a:solidFill>
              </a:rPr>
              <a:t>v1 → v2 → v3  (status: pending → in_transit → delivered)</a:t>
            </a:r>
            <a:endParaRPr lang="en-US" dirty="0"/>
          </a:p>
        </p:txBody>
      </p:sp>
      <p:sp>
        <p:nvSpPr>
          <p:cNvPr id="38" name="S38"/>
          <p:cNvSpPr/>
          <p:nvPr/>
        </p:nvSpPr>
        <p:spPr>
          <a:xfrm>
            <a:off x="6766320" y="1371528"/>
            <a:ext cx="2011680" cy="310000"/>
          </a:xfrm>
          <a:prstGeom prst="rect">
            <a:avLst/>
          </a:prstGeom>
          <a:solidFill>
            <a:srgbClr val="ECFDF5"/>
          </a:solidFill>
          <a:ln w="635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9" name="S39"/>
          <p:cNvSpPr/>
          <p:nvPr/>
        </p:nvSpPr>
        <p:spPr>
          <a:xfrm>
            <a:off x="6839472" y="1371528"/>
            <a:ext cx="1865376" cy="31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80" b="1" dirty="0">
                <a:solidFill>
                  <a:srgbClr val="006848"/>
                </a:solidFill>
              </a:rPr>
              <a:t>Reader saw: </a:t>
            </a:r>
            <a:r>
              <a:rPr lang="en-US" sz="980" dirty="0">
                <a:solidFill>
                  <a:srgbClr val="1A1A2E"/>
                </a:solidFill>
              </a:rPr>
              <a:t>[ v1, v1, v2, v2, v2 ]  — never went backwards  ✓</a:t>
            </a:r>
            <a:endParaRPr lang="en-US" dirty="0"/>
          </a:p>
        </p:txBody>
      </p:sp>
      <p:sp>
        <p:nvSpPr>
          <p:cNvPr id="40" name="S40"/>
          <p:cNvSpPr/>
          <p:nvPr/>
        </p:nvSpPr>
        <p:spPr>
          <a:xfrm>
            <a:off x="4754640" y="1736320"/>
            <a:ext cx="4023360" cy="12000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1" name="S41"/>
          <p:cNvSpPr/>
          <p:nvPr/>
        </p:nvSpPr>
        <p:spPr>
          <a:xfrm>
            <a:off x="4827792" y="1772896"/>
            <a:ext cx="1053696" cy="46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</a:rPr>
              <a:t>Read 1 (t≈0ms)</a:t>
            </a:r>
            <a:endParaRPr lang="en-US" dirty="0"/>
          </a:p>
        </p:txBody>
      </p:sp>
      <p:sp>
        <p:nvSpPr>
          <p:cNvPr id="42" name="S42"/>
          <p:cNvSpPr/>
          <p:nvPr/>
        </p:nvSpPr>
        <p:spPr>
          <a:xfrm>
            <a:off x="6027792" y="1772896"/>
            <a:ext cx="403696" cy="46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</a:t>
            </a:r>
            <a:endParaRPr lang="en-US" dirty="0"/>
          </a:p>
        </p:txBody>
      </p:sp>
      <p:sp>
        <p:nvSpPr>
          <p:cNvPr id="43" name="S43"/>
          <p:cNvSpPr/>
          <p:nvPr/>
        </p:nvSpPr>
        <p:spPr>
          <a:xfrm>
            <a:off x="6577792" y="1772896"/>
            <a:ext cx="653696" cy="46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pending</a:t>
            </a:r>
            <a:endParaRPr lang="en-US" dirty="0"/>
          </a:p>
        </p:txBody>
      </p:sp>
      <p:sp>
        <p:nvSpPr>
          <p:cNvPr id="44" name="S44"/>
          <p:cNvSpPr/>
          <p:nvPr/>
        </p:nvSpPr>
        <p:spPr>
          <a:xfrm>
            <a:off x="7377792" y="1772896"/>
            <a:ext cx="1327056" cy="46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✓ monotonic</a:t>
            </a:r>
            <a:endParaRPr lang="en-US" dirty="0"/>
          </a:p>
        </p:txBody>
      </p:sp>
      <p:sp>
        <p:nvSpPr>
          <p:cNvPr id="45" name="S45"/>
          <p:cNvSpPr/>
          <p:nvPr/>
        </p:nvSpPr>
        <p:spPr>
          <a:xfrm>
            <a:off x="4754640" y="1856320"/>
            <a:ext cx="4023360" cy="12000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6" name="S46"/>
          <p:cNvSpPr/>
          <p:nvPr/>
        </p:nvSpPr>
        <p:spPr>
          <a:xfrm>
            <a:off x="4827792" y="1892896"/>
            <a:ext cx="1053696" cy="46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D97706"/>
                </a:solidFill>
              </a:rPr>
              <a:t>Read 2 (t≈24ms)</a:t>
            </a:r>
            <a:endParaRPr lang="en-US" dirty="0"/>
          </a:p>
        </p:txBody>
      </p:sp>
      <p:sp>
        <p:nvSpPr>
          <p:cNvPr id="47" name="S47"/>
          <p:cNvSpPr/>
          <p:nvPr/>
        </p:nvSpPr>
        <p:spPr>
          <a:xfrm>
            <a:off x="6027792" y="1892896"/>
            <a:ext cx="403696" cy="46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v1</a:t>
            </a:r>
            <a:endParaRPr lang="en-US" dirty="0"/>
          </a:p>
        </p:txBody>
      </p:sp>
      <p:sp>
        <p:nvSpPr>
          <p:cNvPr id="48" name="S48"/>
          <p:cNvSpPr/>
          <p:nvPr/>
        </p:nvSpPr>
        <p:spPr>
          <a:xfrm>
            <a:off x="6577792" y="1892896"/>
            <a:ext cx="653696" cy="46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pending</a:t>
            </a:r>
            <a:endParaRPr lang="en-US" dirty="0"/>
          </a:p>
        </p:txBody>
      </p:sp>
      <p:sp>
        <p:nvSpPr>
          <p:cNvPr id="49" name="S49"/>
          <p:cNvSpPr/>
          <p:nvPr/>
        </p:nvSpPr>
        <p:spPr>
          <a:xfrm>
            <a:off x="7377792" y="1892896"/>
            <a:ext cx="1418736" cy="457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✓ still v1 (v2 not yet propagated)</a:t>
            </a:r>
            <a:endParaRPr lang="en-US" dirty="0"/>
          </a:p>
        </p:txBody>
      </p:sp>
      <p:sp>
        <p:nvSpPr>
          <p:cNvPr id="50" name="S50"/>
          <p:cNvSpPr/>
          <p:nvPr/>
        </p:nvSpPr>
        <p:spPr>
          <a:xfrm>
            <a:off x="4754640" y="1976320"/>
            <a:ext cx="4023360" cy="12000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1" name="S51"/>
          <p:cNvSpPr/>
          <p:nvPr/>
        </p:nvSpPr>
        <p:spPr>
          <a:xfrm>
            <a:off x="4827792" y="2012896"/>
            <a:ext cx="1053696" cy="46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64C8"/>
                </a:solidFill>
              </a:rPr>
              <a:t>Read 3 (t≈47ms)</a:t>
            </a:r>
            <a:endParaRPr lang="en-US" dirty="0"/>
          </a:p>
        </p:txBody>
      </p:sp>
      <p:sp>
        <p:nvSpPr>
          <p:cNvPr id="52" name="S52"/>
          <p:cNvSpPr/>
          <p:nvPr/>
        </p:nvSpPr>
        <p:spPr>
          <a:xfrm>
            <a:off x="6027792" y="2012896"/>
            <a:ext cx="403696" cy="46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6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</a:t>
            </a:r>
            <a:endParaRPr lang="en-US" dirty="0"/>
          </a:p>
        </p:txBody>
      </p:sp>
      <p:sp>
        <p:nvSpPr>
          <p:cNvPr id="53" name="S53"/>
          <p:cNvSpPr/>
          <p:nvPr/>
        </p:nvSpPr>
        <p:spPr>
          <a:xfrm>
            <a:off x="6577792" y="2012896"/>
            <a:ext cx="653696" cy="46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6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in_transit</a:t>
            </a:r>
            <a:endParaRPr lang="en-US" dirty="0"/>
          </a:p>
        </p:txBody>
      </p:sp>
      <p:sp>
        <p:nvSpPr>
          <p:cNvPr id="54" name="S54"/>
          <p:cNvSpPr/>
          <p:nvPr/>
        </p:nvSpPr>
        <p:spPr>
          <a:xfrm>
            <a:off x="7377792" y="2012896"/>
            <a:ext cx="1327056" cy="46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✓ advanced (v2 now visible)</a:t>
            </a:r>
            <a:endParaRPr lang="en-US" dirty="0"/>
          </a:p>
        </p:txBody>
      </p:sp>
      <p:sp>
        <p:nvSpPr>
          <p:cNvPr id="55" name="S55"/>
          <p:cNvSpPr/>
          <p:nvPr/>
        </p:nvSpPr>
        <p:spPr>
          <a:xfrm>
            <a:off x="4754640" y="2096320"/>
            <a:ext cx="4023360" cy="12000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6" name="S56"/>
          <p:cNvSpPr/>
          <p:nvPr/>
        </p:nvSpPr>
        <p:spPr>
          <a:xfrm>
            <a:off x="4827792" y="2132896"/>
            <a:ext cx="1053696" cy="46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64C8"/>
                </a:solidFill>
              </a:rPr>
              <a:t>Read 4 (t≈73ms)</a:t>
            </a:r>
            <a:endParaRPr lang="en-US" dirty="0"/>
          </a:p>
        </p:txBody>
      </p:sp>
      <p:sp>
        <p:nvSpPr>
          <p:cNvPr id="57" name="S57"/>
          <p:cNvSpPr/>
          <p:nvPr/>
        </p:nvSpPr>
        <p:spPr>
          <a:xfrm>
            <a:off x="6027792" y="2132896"/>
            <a:ext cx="403696" cy="46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6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</a:t>
            </a:r>
            <a:endParaRPr lang="en-US" dirty="0"/>
          </a:p>
        </p:txBody>
      </p:sp>
      <p:sp>
        <p:nvSpPr>
          <p:cNvPr id="58" name="S58"/>
          <p:cNvSpPr/>
          <p:nvPr/>
        </p:nvSpPr>
        <p:spPr>
          <a:xfrm>
            <a:off x="6577792" y="2132896"/>
            <a:ext cx="653696" cy="46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6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in_transit</a:t>
            </a:r>
            <a:endParaRPr lang="en-US" dirty="0"/>
          </a:p>
        </p:txBody>
      </p:sp>
      <p:sp>
        <p:nvSpPr>
          <p:cNvPr id="59" name="S59"/>
          <p:cNvSpPr/>
          <p:nvPr/>
        </p:nvSpPr>
        <p:spPr>
          <a:xfrm>
            <a:off x="7377792" y="2132896"/>
            <a:ext cx="1327056" cy="46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✓ still v2</a:t>
            </a:r>
            <a:endParaRPr lang="en-US" dirty="0"/>
          </a:p>
        </p:txBody>
      </p:sp>
      <p:sp>
        <p:nvSpPr>
          <p:cNvPr id="60" name="S60"/>
          <p:cNvSpPr/>
          <p:nvPr/>
        </p:nvSpPr>
        <p:spPr>
          <a:xfrm>
            <a:off x="4754640" y="2216320"/>
            <a:ext cx="4023360" cy="12000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1" name="S61"/>
          <p:cNvSpPr/>
          <p:nvPr/>
        </p:nvSpPr>
        <p:spPr>
          <a:xfrm>
            <a:off x="4827792" y="2252896"/>
            <a:ext cx="1053696" cy="46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E64C8"/>
                </a:solidFill>
              </a:rPr>
              <a:t>Read 5 (t≈96ms)</a:t>
            </a:r>
            <a:endParaRPr lang="en-US" dirty="0"/>
          </a:p>
        </p:txBody>
      </p:sp>
      <p:sp>
        <p:nvSpPr>
          <p:cNvPr id="62" name="S62"/>
          <p:cNvSpPr/>
          <p:nvPr/>
        </p:nvSpPr>
        <p:spPr>
          <a:xfrm>
            <a:off x="6027792" y="2252896"/>
            <a:ext cx="403696" cy="46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E6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</a:t>
            </a:r>
            <a:endParaRPr lang="en-US" dirty="0"/>
          </a:p>
        </p:txBody>
      </p:sp>
      <p:sp>
        <p:nvSpPr>
          <p:cNvPr id="63" name="S63"/>
          <p:cNvSpPr/>
          <p:nvPr/>
        </p:nvSpPr>
        <p:spPr>
          <a:xfrm>
            <a:off x="6577792" y="2252896"/>
            <a:ext cx="653696" cy="46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1E6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in_transit</a:t>
            </a:r>
            <a:endParaRPr lang="en-US" dirty="0"/>
          </a:p>
        </p:txBody>
      </p:sp>
      <p:sp>
        <p:nvSpPr>
          <p:cNvPr id="64" name="S64"/>
          <p:cNvSpPr/>
          <p:nvPr/>
        </p:nvSpPr>
        <p:spPr>
          <a:xfrm>
            <a:off x="7377792" y="2252896"/>
            <a:ext cx="1327056" cy="46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✓ v3 not visible yet (async lag)</a:t>
            </a:r>
            <a:endParaRPr lang="en-US" dirty="0"/>
          </a:p>
        </p:txBody>
      </p:sp>
      <p:sp>
        <p:nvSpPr>
          <p:cNvPr id="65" name="S65"/>
          <p:cNvSpPr/>
          <p:nvPr/>
        </p:nvSpPr>
        <p:spPr>
          <a:xfrm>
            <a:off x="4754640" y="2391112"/>
            <a:ext cx="4023360" cy="461816"/>
          </a:xfrm>
          <a:prstGeom prst="rect">
            <a:avLst/>
          </a:prstGeom>
          <a:solidFill>
            <a:srgbClr val="ECFDF5"/>
          </a:solidFill>
          <a:ln w="1016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6" name="S66"/>
          <p:cNvSpPr/>
          <p:nvPr/>
        </p:nvSpPr>
        <p:spPr>
          <a:xfrm>
            <a:off x="4754640" y="2391112"/>
            <a:ext cx="64008" cy="461816"/>
          </a:xfrm>
          <a:prstGeom prst="rect">
            <a:avLst/>
          </a:prstGeom>
          <a:solidFill>
            <a:srgbClr val="006848"/>
          </a:solidFill>
          <a:ln w="1270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7" name="S67"/>
          <p:cNvSpPr/>
          <p:nvPr/>
        </p:nvSpPr>
        <p:spPr>
          <a:xfrm>
            <a:off x="4891800" y="2391112"/>
            <a:ext cx="3813048" cy="461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06848"/>
                </a:solidFill>
              </a:rPr>
              <a:t>Monotonic guarantee: </a:t>
            </a:r>
            <a:r>
              <a:rPr lang="en-US" sz="950" dirty="0">
                <a:solidFill>
                  <a:srgbClr val="1A1A2E"/>
                </a:solidFill>
              </a:rPr>
              <a:t>versions_seen=[1,1,2,2,2] — strictly non-decreasing. </a:t>
            </a:r>
            <a:r>
              <a:rPr lang="en-US" sz="950" b="1" dirty="0">
                <a:solidFill>
                  <a:srgbClr val="DC2626"/>
                </a:solidFill>
              </a:rPr>
              <a:t>Never goes backwards</a:t>
            </a:r>
            <a:r>
              <a:rPr lang="en-US" sz="950" dirty="0">
                <a:solidFill>
                  <a:srgbClr val="1A1A2E"/>
                </a:solidFill>
              </a:rPr>
              <a:t>. Single-leader oplog preserves write order; SECONDARY replays in sequence. (0 backward reads, log_index #886)</a:t>
            </a:r>
            <a:endParaRPr lang="en-US" dirty="0"/>
          </a:p>
        </p:txBody>
      </p:sp>
      <p:sp>
        <p:nvSpPr>
          <p:cNvPr id="69" name="S69"/>
          <p:cNvSpPr/>
          <p:nvPr/>
        </p:nvSpPr>
        <p:spPr>
          <a:xfrm>
            <a:off x="365760" y="2926080"/>
            <a:ext cx="8412480" cy="2162628"/>
          </a:xfrm>
          <a:prstGeom prst="rect">
            <a:avLst/>
          </a:prstGeom>
          <a:solidFill>
            <a:srgbClr val="0D111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68" name="exp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552" y="2980872"/>
            <a:ext cx="8302896" cy="205304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6848"/>
          </a:solidFill>
          <a:ln/>
        </p:spPr>
        <p:txBody>
          <a:bodyPr/>
          <a:lstStyle/>
          <a:p>
            <a:endParaRPr lang="en-TR"/>
          </a:p>
        </p:txBody>
      </p:sp>
      <p:sp>
        <p:nvSpPr>
          <p:cNvPr id="3" name="S3"/>
          <p:cNvSpPr/>
          <p:nvPr/>
        </p:nvSpPr>
        <p:spPr>
          <a:xfrm>
            <a:off x="411480" y="0"/>
            <a:ext cx="8321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Experiment 5 — Concurrent Writes: Propagation Order</a:t>
            </a:r>
            <a:endParaRPr lang="en-US" dirty="0"/>
          </a:p>
        </p:txBody>
      </p:sp>
      <p:sp>
        <p:nvSpPr>
          <p:cNvPr id="4" name="S4"/>
          <p:cNvSpPr/>
          <p:nvPr/>
        </p:nvSpPr>
        <p:spPr>
          <a:xfrm>
            <a:off x="411480" y="594360"/>
            <a:ext cx="8321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DFC8"/>
                </a:solidFill>
              </a:rPr>
              <a:t>vehicles · CW-SHARED · User A (A1,A2) + User B (B1,B2) fire simultaneously · w=1 · LWW convergence</a:t>
            </a:r>
            <a:endParaRPr lang="en-US" dirty="0"/>
          </a:p>
        </p:txBody>
      </p:sp>
      <p:sp>
        <p:nvSpPr>
          <p:cNvPr id="5" name="S5"/>
          <p:cNvSpPr/>
          <p:nvPr/>
        </p:nvSpPr>
        <p:spPr>
          <a:xfrm>
            <a:off x="274320" y="93735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848"/>
                </a:solidFill>
              </a:rPr>
              <a:t>What was written (shared document, 2 threads)</a:t>
            </a:r>
            <a:endParaRPr lang="en-US" dirty="0"/>
          </a:p>
        </p:txBody>
      </p:sp>
      <p:sp>
        <p:nvSpPr>
          <p:cNvPr id="6" name="S6"/>
          <p:cNvSpPr/>
          <p:nvPr/>
        </p:nvSpPr>
        <p:spPr>
          <a:xfrm>
            <a:off x="274320" y="1283688"/>
            <a:ext cx="4297680" cy="274320"/>
          </a:xfrm>
          <a:prstGeom prst="rect">
            <a:avLst/>
          </a:prstGeom>
          <a:solidFill>
            <a:srgbClr val="0D1117"/>
          </a:solidFill>
          <a:ln w="635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7" name="S7"/>
          <p:cNvSpPr/>
          <p:nvPr/>
        </p:nvSpPr>
        <p:spPr>
          <a:xfrm>
            <a:off x="347472" y="1283688"/>
            <a:ext cx="41513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AADFC8"/>
                </a:solidFill>
              </a:rPr>
              <a:t>4 concurrent UPDATEs  ·  collection: </a:t>
            </a:r>
            <a:r>
              <a:rPr lang="en-US" sz="950" b="1" dirty="0">
                <a:solidFill>
                  <a:srgbClr val="00A8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vehicles</a:t>
            </a:r>
            <a:r>
              <a:rPr lang="en-US" sz="950" dirty="0">
                <a:solidFill>
                  <a:srgbClr val="AADFC8"/>
                </a:solidFill>
              </a:rPr>
              <a:t>  ·  CW-SHARED  ·  w=1 (both threads simultaneous)</a:t>
            </a:r>
            <a:endParaRPr lang="en-US" dirty="0"/>
          </a:p>
        </p:txBody>
      </p:sp>
      <p:sp>
        <p:nvSpPr>
          <p:cNvPr id="8" name="S8"/>
          <p:cNvSpPr/>
          <p:nvPr/>
        </p:nvSpPr>
        <p:spPr>
          <a:xfrm>
            <a:off x="274320" y="1558008"/>
            <a:ext cx="4297680" cy="153180"/>
          </a:xfrm>
          <a:prstGeom prst="rect">
            <a:avLst/>
          </a:prstGeom>
          <a:solidFill>
            <a:srgbClr val="E8F5F0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9" name="S9"/>
          <p:cNvSpPr/>
          <p:nvPr/>
        </p:nvSpPr>
        <p:spPr>
          <a:xfrm>
            <a:off x="347472" y="159458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vehicle_id</a:t>
            </a:r>
            <a:endParaRPr lang="en-US" dirty="0"/>
          </a:p>
        </p:txBody>
      </p:sp>
      <p:sp>
        <p:nvSpPr>
          <p:cNvPr id="10" name="S10"/>
          <p:cNvSpPr/>
          <p:nvPr/>
        </p:nvSpPr>
        <p:spPr>
          <a:xfrm>
            <a:off x="1807472" y="159458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"CW-SHARED"  (single shared truck)</a:t>
            </a:r>
            <a:endParaRPr lang="en-US" dirty="0"/>
          </a:p>
        </p:txBody>
      </p:sp>
      <p:sp>
        <p:nvSpPr>
          <p:cNvPr id="11" name="S11"/>
          <p:cNvSpPr/>
          <p:nvPr/>
        </p:nvSpPr>
        <p:spPr>
          <a:xfrm>
            <a:off x="274320" y="1711188"/>
            <a:ext cx="4297680" cy="1531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2" name="S12"/>
          <p:cNvSpPr/>
          <p:nvPr/>
        </p:nvSpPr>
        <p:spPr>
          <a:xfrm>
            <a:off x="347472" y="174776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</a:t>
            </a:r>
            <a:endParaRPr lang="en-US" dirty="0"/>
          </a:p>
        </p:txBody>
      </p:sp>
      <p:sp>
        <p:nvSpPr>
          <p:cNvPr id="13" name="S13"/>
          <p:cNvSpPr/>
          <p:nvPr/>
        </p:nvSpPr>
        <p:spPr>
          <a:xfrm>
            <a:off x="1807472" y="174776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1A2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"truck"</a:t>
            </a:r>
            <a:endParaRPr lang="en-US" dirty="0"/>
          </a:p>
        </p:txBody>
      </p:sp>
      <p:sp>
        <p:nvSpPr>
          <p:cNvPr id="14" name="S14"/>
          <p:cNvSpPr/>
          <p:nvPr/>
        </p:nvSpPr>
        <p:spPr>
          <a:xfrm>
            <a:off x="274320" y="1864368"/>
            <a:ext cx="4297680" cy="15318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5" name="S15"/>
          <p:cNvSpPr/>
          <p:nvPr/>
        </p:nvSpPr>
        <p:spPr>
          <a:xfrm>
            <a:off x="347472" y="190094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6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v2  (User A — A1)</a:t>
            </a:r>
            <a:endParaRPr lang="en-US" dirty="0"/>
          </a:p>
        </p:txBody>
      </p:sp>
      <p:sp>
        <p:nvSpPr>
          <p:cNvPr id="16" name="S16"/>
          <p:cNvSpPr/>
          <p:nvPr/>
        </p:nvSpPr>
        <p:spPr>
          <a:xfrm>
            <a:off x="1807472" y="190094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64C8"/>
                </a:solidFill>
              </a:rPr>
              <a:t>capacity: 5100  year: 2021  last_writer: "user_a"</a:t>
            </a:r>
            <a:endParaRPr lang="en-US" dirty="0"/>
          </a:p>
        </p:txBody>
      </p:sp>
      <p:sp>
        <p:nvSpPr>
          <p:cNvPr id="17" name="S17"/>
          <p:cNvSpPr/>
          <p:nvPr/>
        </p:nvSpPr>
        <p:spPr>
          <a:xfrm>
            <a:off x="274320" y="2017548"/>
            <a:ext cx="4297680" cy="153180"/>
          </a:xfrm>
          <a:prstGeom prst="rect">
            <a:avLst/>
          </a:prstGeom>
          <a:solidFill>
            <a:srgbClr val="FEF3C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S18"/>
          <p:cNvSpPr/>
          <p:nvPr/>
        </p:nvSpPr>
        <p:spPr>
          <a:xfrm>
            <a:off x="347472" y="205412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v3  (User B — B1)</a:t>
            </a:r>
            <a:endParaRPr lang="en-US" dirty="0"/>
          </a:p>
        </p:txBody>
      </p:sp>
      <p:sp>
        <p:nvSpPr>
          <p:cNvPr id="19" name="S19"/>
          <p:cNvSpPr/>
          <p:nvPr/>
        </p:nvSpPr>
        <p:spPr>
          <a:xfrm>
            <a:off x="1807472" y="205412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</a:rPr>
              <a:t>capacity: 5100  year: 2021  last_writer: "user_b"</a:t>
            </a:r>
            <a:endParaRPr lang="en-US" dirty="0"/>
          </a:p>
        </p:txBody>
      </p:sp>
      <p:sp>
        <p:nvSpPr>
          <p:cNvPr id="20" name="S20"/>
          <p:cNvSpPr/>
          <p:nvPr/>
        </p:nvSpPr>
        <p:spPr>
          <a:xfrm>
            <a:off x="274320" y="2170728"/>
            <a:ext cx="4297680" cy="153180"/>
          </a:xfrm>
          <a:prstGeom prst="rect">
            <a:avLst/>
          </a:prstGeom>
          <a:solidFill>
            <a:srgbClr val="DBEAFE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1" name="S21"/>
          <p:cNvSpPr/>
          <p:nvPr/>
        </p:nvSpPr>
        <p:spPr>
          <a:xfrm>
            <a:off x="347472" y="220730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6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v4  (User A — A2)</a:t>
            </a:r>
            <a:endParaRPr lang="en-US" dirty="0"/>
          </a:p>
        </p:txBody>
      </p:sp>
      <p:sp>
        <p:nvSpPr>
          <p:cNvPr id="22" name="S22"/>
          <p:cNvSpPr/>
          <p:nvPr/>
        </p:nvSpPr>
        <p:spPr>
          <a:xfrm>
            <a:off x="1807472" y="2207304"/>
            <a:ext cx="269137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E64C8"/>
                </a:solidFill>
              </a:rPr>
              <a:t>capacity: 5200 ↑  year: 2022 ↑  last_writer: "user_a"</a:t>
            </a:r>
            <a:endParaRPr lang="en-US" dirty="0"/>
          </a:p>
        </p:txBody>
      </p:sp>
      <p:sp>
        <p:nvSpPr>
          <p:cNvPr id="23" name="S23"/>
          <p:cNvSpPr/>
          <p:nvPr/>
        </p:nvSpPr>
        <p:spPr>
          <a:xfrm>
            <a:off x="274320" y="2323908"/>
            <a:ext cx="4297680" cy="153180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4" name="S24"/>
          <p:cNvSpPr/>
          <p:nvPr/>
        </p:nvSpPr>
        <p:spPr>
          <a:xfrm>
            <a:off x="347472" y="2360484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v5  (User B — B2) ✓</a:t>
            </a:r>
            <a:endParaRPr lang="en-US" sz="800" dirty="0"/>
          </a:p>
        </p:txBody>
      </p:sp>
      <p:sp>
        <p:nvSpPr>
          <p:cNvPr id="25" name="S25"/>
          <p:cNvSpPr/>
          <p:nvPr/>
        </p:nvSpPr>
        <p:spPr>
          <a:xfrm>
            <a:off x="1802888" y="2367722"/>
            <a:ext cx="2764528" cy="591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6848"/>
                </a:solidFill>
              </a:rPr>
              <a:t>capacity: 5200  year: 2022  last_writer: "user_b"  [FINAL — LWW]</a:t>
            </a:r>
            <a:endParaRPr lang="en-US" sz="800" dirty="0"/>
          </a:p>
        </p:txBody>
      </p:sp>
      <p:sp>
        <p:nvSpPr>
          <p:cNvPr id="26" name="S26"/>
          <p:cNvSpPr/>
          <p:nvPr/>
        </p:nvSpPr>
        <p:spPr>
          <a:xfrm>
            <a:off x="274320" y="2477088"/>
            <a:ext cx="4297680" cy="224778"/>
          </a:xfrm>
          <a:prstGeom prst="rect">
            <a:avLst/>
          </a:prstGeom>
          <a:solidFill>
            <a:srgbClr val="ECFDF5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7" name="S27"/>
          <p:cNvSpPr/>
          <p:nvPr/>
        </p:nvSpPr>
        <p:spPr>
          <a:xfrm>
            <a:off x="347472" y="2537621"/>
            <a:ext cx="1313696" cy="800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PRIMARY  →  SECONDARY</a:t>
            </a:r>
            <a:endParaRPr lang="en-US" sz="800" dirty="0"/>
          </a:p>
        </p:txBody>
      </p:sp>
      <p:sp>
        <p:nvSpPr>
          <p:cNvPr id="28" name="S28"/>
          <p:cNvSpPr/>
          <p:nvPr/>
        </p:nvSpPr>
        <p:spPr>
          <a:xfrm>
            <a:off x="1802888" y="2537015"/>
            <a:ext cx="2764528" cy="774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006848"/>
                </a:solidFill>
              </a:rPr>
              <a:t>both nodes converge to v5 in ~2.5 ms  ·  order_preserved: true ✓</a:t>
            </a:r>
            <a:endParaRPr lang="en-US" sz="800" dirty="0"/>
          </a:p>
        </p:txBody>
      </p:sp>
      <p:sp>
        <p:nvSpPr>
          <p:cNvPr id="29" name="S29"/>
          <p:cNvSpPr/>
          <p:nvPr/>
        </p:nvSpPr>
        <p:spPr>
          <a:xfrm>
            <a:off x="274320" y="2682441"/>
            <a:ext cx="4297680" cy="225856"/>
          </a:xfrm>
          <a:prstGeom prst="rect">
            <a:avLst/>
          </a:prstGeom>
          <a:solidFill>
            <a:srgbClr val="FEE2E2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30" name="S30"/>
          <p:cNvSpPr/>
          <p:nvPr/>
        </p:nvSpPr>
        <p:spPr>
          <a:xfrm>
            <a:off x="347472" y="2764212"/>
            <a:ext cx="1459760" cy="52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last_writer  (LWW key)</a:t>
            </a:r>
            <a:endParaRPr lang="en-US" sz="800" dirty="0"/>
          </a:p>
        </p:txBody>
      </p:sp>
      <p:sp>
        <p:nvSpPr>
          <p:cNvPr id="31" name="S31"/>
          <p:cNvSpPr/>
          <p:nvPr/>
        </p:nvSpPr>
        <p:spPr>
          <a:xfrm>
            <a:off x="1807472" y="2713788"/>
            <a:ext cx="2691376" cy="2122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DC2626"/>
                </a:solidFill>
              </a:rPr>
              <a:t>changes each write: user_a → user_b → user_a → user_b (B2 wins)</a:t>
            </a:r>
            <a:endParaRPr lang="en-US" sz="800" dirty="0"/>
          </a:p>
        </p:txBody>
      </p:sp>
      <p:sp>
        <p:nvSpPr>
          <p:cNvPr id="32" name="S32"/>
          <p:cNvSpPr/>
          <p:nvPr/>
        </p:nvSpPr>
        <p:spPr>
          <a:xfrm>
            <a:off x="4754640" y="918492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6848"/>
                </a:solidFill>
              </a:rPr>
              <a:t>Concurrent write serialisation</a:t>
            </a:r>
            <a:endParaRPr lang="en-US" dirty="0"/>
          </a:p>
        </p:txBody>
      </p:sp>
      <p:sp>
        <p:nvSpPr>
          <p:cNvPr id="33" name="S33"/>
          <p:cNvSpPr/>
          <p:nvPr/>
        </p:nvSpPr>
        <p:spPr>
          <a:xfrm>
            <a:off x="4754640" y="1180848"/>
            <a:ext cx="100584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64C8"/>
                </a:solidFill>
              </a:rPr>
              <a:t>4 writes</a:t>
            </a:r>
            <a:endParaRPr lang="en-US" dirty="0"/>
          </a:p>
        </p:txBody>
      </p:sp>
      <p:sp>
        <p:nvSpPr>
          <p:cNvPr id="34" name="S34"/>
          <p:cNvSpPr/>
          <p:nvPr/>
        </p:nvSpPr>
        <p:spPr>
          <a:xfrm>
            <a:off x="4754640" y="1420848"/>
            <a:ext cx="100584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2A + 2B simultaneous</a:t>
            </a:r>
            <a:endParaRPr lang="en-US" dirty="0"/>
          </a:p>
        </p:txBody>
      </p:sp>
      <p:sp>
        <p:nvSpPr>
          <p:cNvPr id="35" name="S35"/>
          <p:cNvSpPr/>
          <p:nvPr/>
        </p:nvSpPr>
        <p:spPr>
          <a:xfrm>
            <a:off x="5760480" y="1180848"/>
            <a:ext cx="100584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6848"/>
                </a:solidFill>
              </a:rPr>
              <a:t>v5 final</a:t>
            </a:r>
            <a:endParaRPr lang="en-US" dirty="0"/>
          </a:p>
        </p:txBody>
      </p:sp>
      <p:sp>
        <p:nvSpPr>
          <p:cNvPr id="36" name="S36"/>
          <p:cNvSpPr/>
          <p:nvPr/>
        </p:nvSpPr>
        <p:spPr>
          <a:xfrm>
            <a:off x="5760480" y="1420848"/>
            <a:ext cx="100584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last_writer: user_b</a:t>
            </a:r>
            <a:endParaRPr lang="en-US" dirty="0"/>
          </a:p>
        </p:txBody>
      </p:sp>
      <p:sp>
        <p:nvSpPr>
          <p:cNvPr id="37" name="S37"/>
          <p:cNvSpPr/>
          <p:nvPr/>
        </p:nvSpPr>
        <p:spPr>
          <a:xfrm>
            <a:off x="6766320" y="1180848"/>
            <a:ext cx="100584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97706"/>
                </a:solidFill>
              </a:rPr>
              <a:t>~35 ms</a:t>
            </a:r>
            <a:endParaRPr lang="en-US" dirty="0"/>
          </a:p>
        </p:txBody>
      </p:sp>
      <p:sp>
        <p:nvSpPr>
          <p:cNvPr id="38" name="S38"/>
          <p:cNvSpPr/>
          <p:nvPr/>
        </p:nvSpPr>
        <p:spPr>
          <a:xfrm>
            <a:off x="6766320" y="1420848"/>
            <a:ext cx="100584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avg write latency</a:t>
            </a:r>
            <a:endParaRPr lang="en-US" dirty="0"/>
          </a:p>
        </p:txBody>
      </p:sp>
      <p:sp>
        <p:nvSpPr>
          <p:cNvPr id="39" name="S39"/>
          <p:cNvSpPr/>
          <p:nvPr/>
        </p:nvSpPr>
        <p:spPr>
          <a:xfrm>
            <a:off x="7772160" y="1180848"/>
            <a:ext cx="1005840" cy="2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6848"/>
                </a:solidFill>
              </a:rPr>
              <a:t>order ✓</a:t>
            </a:r>
            <a:endParaRPr lang="en-US" dirty="0"/>
          </a:p>
        </p:txBody>
      </p:sp>
      <p:sp>
        <p:nvSpPr>
          <p:cNvPr id="40" name="S40"/>
          <p:cNvSpPr/>
          <p:nvPr/>
        </p:nvSpPr>
        <p:spPr>
          <a:xfrm>
            <a:off x="7772160" y="1420848"/>
            <a:ext cx="1005840" cy="12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4748B"/>
                </a:solidFill>
              </a:rPr>
              <a:t>log_index preserved</a:t>
            </a:r>
            <a:endParaRPr lang="en-US" dirty="0"/>
          </a:p>
        </p:txBody>
      </p:sp>
      <p:sp>
        <p:nvSpPr>
          <p:cNvPr id="41" name="S41"/>
          <p:cNvSpPr/>
          <p:nvPr/>
        </p:nvSpPr>
        <p:spPr>
          <a:xfrm>
            <a:off x="4754640" y="1595640"/>
            <a:ext cx="4023360" cy="350000"/>
          </a:xfrm>
          <a:prstGeom prst="rect">
            <a:avLst/>
          </a:prstGeom>
          <a:solidFill>
            <a:srgbClr val="DBEAFE"/>
          </a:solidFill>
          <a:ln w="10160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2" name="S42"/>
          <p:cNvSpPr/>
          <p:nvPr/>
        </p:nvSpPr>
        <p:spPr>
          <a:xfrm>
            <a:off x="4754640" y="1606618"/>
            <a:ext cx="64008" cy="350000"/>
          </a:xfrm>
          <a:prstGeom prst="rect">
            <a:avLst/>
          </a:prstGeom>
          <a:solidFill>
            <a:srgbClr val="1E64C8"/>
          </a:solidFill>
          <a:ln w="12700">
            <a:solidFill>
              <a:srgbClr val="1E64C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3" name="S43"/>
          <p:cNvSpPr/>
          <p:nvPr/>
        </p:nvSpPr>
        <p:spPr>
          <a:xfrm>
            <a:off x="4891800" y="1595640"/>
            <a:ext cx="3904728" cy="35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1E64C8"/>
                </a:solidFill>
              </a:rPr>
              <a:t>PRIMARY serialisation: </a:t>
            </a:r>
            <a:r>
              <a:rPr lang="en-US" sz="900" b="1" dirty="0">
                <a:solidFill>
                  <a:srgbClr val="1E6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A1</a:t>
            </a:r>
            <a:r>
              <a:rPr lang="en-US" sz="900" dirty="0">
                <a:solidFill>
                  <a:srgbClr val="1A1A2E"/>
                </a:solidFill>
              </a:rPr>
              <a:t> (v2) → </a:t>
            </a:r>
            <a:r>
              <a:rPr lang="en-US" sz="9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B1</a:t>
            </a:r>
            <a:r>
              <a:rPr lang="en-US" sz="900" dirty="0">
                <a:solidFill>
                  <a:srgbClr val="1A1A2E"/>
                </a:solidFill>
              </a:rPr>
              <a:t> (v3) → </a:t>
            </a:r>
            <a:r>
              <a:rPr lang="en-US" sz="900" b="1" dirty="0">
                <a:solidFill>
                  <a:srgbClr val="1E6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A2</a:t>
            </a:r>
            <a:r>
              <a:rPr lang="en-US" sz="900" dirty="0">
                <a:solidFill>
                  <a:srgbClr val="1A1A2E"/>
                </a:solidFill>
              </a:rPr>
              <a:t> (v4) → </a:t>
            </a:r>
            <a:r>
              <a:rPr lang="en-US" sz="900" b="1" dirty="0">
                <a:solidFill>
                  <a:srgbClr val="D9770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B2</a:t>
            </a:r>
            <a:r>
              <a:rPr lang="en-US" sz="900" dirty="0">
                <a:solidFill>
                  <a:srgbClr val="1A1A2E"/>
                </a:solidFill>
              </a:rPr>
              <a:t> (v5) — arrival order. SECONDARY replays oplog in same sequence; both nodes converge to identical v5.</a:t>
            </a:r>
            <a:endParaRPr lang="en-US" dirty="0"/>
          </a:p>
        </p:txBody>
      </p:sp>
      <p:sp>
        <p:nvSpPr>
          <p:cNvPr id="44" name="S44"/>
          <p:cNvSpPr/>
          <p:nvPr/>
        </p:nvSpPr>
        <p:spPr>
          <a:xfrm>
            <a:off x="4754640" y="2011439"/>
            <a:ext cx="4023360" cy="290000"/>
          </a:xfrm>
          <a:prstGeom prst="rect">
            <a:avLst/>
          </a:prstGeom>
          <a:solidFill>
            <a:srgbClr val="FEF3C7"/>
          </a:solidFill>
          <a:ln w="1016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5" name="S45"/>
          <p:cNvSpPr/>
          <p:nvPr/>
        </p:nvSpPr>
        <p:spPr>
          <a:xfrm>
            <a:off x="4754640" y="2011439"/>
            <a:ext cx="64008" cy="290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6" name="S46"/>
          <p:cNvSpPr/>
          <p:nvPr/>
        </p:nvSpPr>
        <p:spPr>
          <a:xfrm>
            <a:off x="4891800" y="2011439"/>
            <a:ext cx="3813048" cy="29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D97706"/>
                </a:solidFill>
              </a:rPr>
              <a:t>Last-Write-Wins: </a:t>
            </a:r>
            <a:r>
              <a:rPr lang="en-US" sz="900" dirty="0">
                <a:solidFill>
                  <a:srgbClr val="1A1A2E"/>
                </a:solidFill>
              </a:rPr>
              <a:t>B2 arrived last at PRIMARY → assigned highest log_index → final value on both nodes. LWW is deterministic under single-leader serialisation.</a:t>
            </a:r>
            <a:endParaRPr lang="en-US" dirty="0"/>
          </a:p>
        </p:txBody>
      </p:sp>
      <p:sp>
        <p:nvSpPr>
          <p:cNvPr id="47" name="S47"/>
          <p:cNvSpPr/>
          <p:nvPr/>
        </p:nvSpPr>
        <p:spPr>
          <a:xfrm>
            <a:off x="4754640" y="2357288"/>
            <a:ext cx="4023360" cy="579770"/>
          </a:xfrm>
          <a:prstGeom prst="rect">
            <a:avLst/>
          </a:prstGeom>
          <a:solidFill>
            <a:srgbClr val="ECFDF5"/>
          </a:solidFill>
          <a:ln w="1016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8" name="S48"/>
          <p:cNvSpPr/>
          <p:nvPr/>
        </p:nvSpPr>
        <p:spPr>
          <a:xfrm>
            <a:off x="4754640" y="2368309"/>
            <a:ext cx="64008" cy="600641"/>
          </a:xfrm>
          <a:prstGeom prst="rect">
            <a:avLst/>
          </a:prstGeom>
          <a:solidFill>
            <a:srgbClr val="006848"/>
          </a:solidFill>
          <a:ln w="12700">
            <a:solidFill>
              <a:srgbClr val="00684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49" name="S49"/>
          <p:cNvSpPr/>
          <p:nvPr/>
        </p:nvSpPr>
        <p:spPr>
          <a:xfrm>
            <a:off x="4891800" y="2379804"/>
            <a:ext cx="3886200" cy="3170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006848"/>
                </a:solidFill>
              </a:rPr>
              <a:t>Key observation: </a:t>
            </a:r>
            <a:r>
              <a:rPr lang="en-US" sz="900" dirty="0">
                <a:solidFill>
                  <a:srgbClr val="1A1A2E"/>
                </a:solidFill>
              </a:rPr>
              <a:t>PRIMARY assigns monotonically increasing log_index per write in arrival order. SECONDARY applies the oplog batch in that exact sequence — </a:t>
            </a:r>
            <a:r>
              <a:rPr lang="en-US" sz="900" b="1" dirty="0">
                <a:solidFill>
                  <a:srgbClr val="00684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order_preserved: true</a:t>
            </a:r>
            <a:r>
              <a:rPr lang="en-US" sz="900" dirty="0">
                <a:solidFill>
                  <a:srgbClr val="1A1A2E"/>
                </a:solidFill>
              </a:rPr>
              <a:t>. 4/4 writes visible on SECONDARY within ~2.5 ms; single-leader serialisation prevents divergence.</a:t>
            </a:r>
            <a:endParaRPr lang="en-US" sz="900" dirty="0"/>
          </a:p>
        </p:txBody>
      </p:sp>
      <p:sp>
        <p:nvSpPr>
          <p:cNvPr id="51" name="S51"/>
          <p:cNvSpPr/>
          <p:nvPr/>
        </p:nvSpPr>
        <p:spPr>
          <a:xfrm>
            <a:off x="365760" y="2926080"/>
            <a:ext cx="8412480" cy="2162628"/>
          </a:xfrm>
          <a:prstGeom prst="rect">
            <a:avLst/>
          </a:prstGeom>
          <a:solidFill>
            <a:srgbClr val="0D1117"/>
          </a:solidFill>
          <a:ln w="635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pic>
        <p:nvPicPr>
          <p:cNvPr id="50" name="exp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552" y="2980872"/>
            <a:ext cx="8302896" cy="205304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0684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Conclusion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AADFC8"/>
                </a:solidFill>
              </a:rPr>
              <a:t>Five consistency scenarios demonstrated on real hardware — no containers, no simulated latency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27432"/>
          </a:xfrm>
          <a:prstGeom prst="rect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347472" cy="347472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60120" y="132588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ADFC8"/>
                </a:solidFill>
              </a:rPr>
              <a:t>Synchronous Replication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62763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FAE5"/>
                </a:solidFill>
              </a:rPr>
              <a:t>166.4 ms total write — both nodes consistent before client receives ok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048256"/>
            <a:ext cx="347472" cy="347472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0" name="Text 8"/>
          <p:cNvSpPr/>
          <p:nvPr/>
        </p:nvSpPr>
        <p:spPr>
          <a:xfrm>
            <a:off x="457200" y="2048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60120" y="2002536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ADFC8"/>
                </a:solidFill>
              </a:rPr>
              <a:t>Eventual Consistency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304288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FAE5"/>
                </a:solidFill>
              </a:rPr>
              <a:t>2/3 reads stale; system converges within 1163 ms (1 s artificial delay)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724912"/>
            <a:ext cx="347472" cy="347472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4" name="Text 12"/>
          <p:cNvSpPr/>
          <p:nvPr/>
        </p:nvSpPr>
        <p:spPr>
          <a:xfrm>
            <a:off x="457200" y="27249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679192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ADFC8"/>
                </a:solidFill>
              </a:rPr>
              <a:t>Read-After-Write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98094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FAE5"/>
                </a:solidFill>
              </a:rPr>
              <a:t>PRIMARY read 6.5 ms — always fresh; SECONDARY briefly stale (~3.9 ms to catch up)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401568"/>
            <a:ext cx="347472" cy="347472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18" name="Text 16"/>
          <p:cNvSpPr/>
          <p:nvPr/>
        </p:nvSpPr>
        <p:spPr>
          <a:xfrm>
            <a:off x="457200" y="3401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355848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ADFC8"/>
                </a:solidFill>
              </a:rPr>
              <a:t>Monotonic Reads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657600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FAE5"/>
                </a:solidFill>
              </a:rPr>
              <a:t>Versions [5,5,5,5,5], 0 backward reads — oplog ordering forbids regression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078224"/>
            <a:ext cx="347472" cy="347472"/>
          </a:xfrm>
          <a:prstGeom prst="ellipse">
            <a:avLst/>
          </a:prstGeom>
          <a:solidFill>
            <a:srgbClr val="00A86B"/>
          </a:solidFill>
          <a:ln w="12700">
            <a:solidFill>
              <a:srgbClr val="00A86B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2" name="Text 20"/>
          <p:cNvSpPr/>
          <p:nvPr/>
        </p:nvSpPr>
        <p:spPr>
          <a:xfrm>
            <a:off x="457200" y="40782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032504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AADFC8"/>
                </a:solidFill>
              </a:rPr>
              <a:t>Concurrent Writes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4334256"/>
            <a:ext cx="7680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1FAE5"/>
                </a:solidFill>
              </a:rPr>
              <a:t>log_index 744–749 — write order preserved exactly on SECONDARY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4828032"/>
            <a:ext cx="9144000" cy="320040"/>
          </a:xfrm>
          <a:prstGeom prst="rect">
            <a:avLst/>
          </a:prstGeom>
          <a:solidFill>
            <a:srgbClr val="005038"/>
          </a:solidFill>
          <a:ln w="12700">
            <a:solidFill>
              <a:srgbClr val="005038"/>
            </a:solidFill>
            <a:prstDash val="solid"/>
          </a:ln>
        </p:spPr>
        <p:txBody>
          <a:bodyPr/>
          <a:lstStyle/>
          <a:p>
            <a:endParaRPr lang="en-TR"/>
          </a:p>
        </p:txBody>
      </p:sp>
      <p:sp>
        <p:nvSpPr>
          <p:cNvPr id="26" name="Text 24"/>
          <p:cNvSpPr/>
          <p:nvPr/>
        </p:nvSpPr>
        <p:spPr>
          <a:xfrm>
            <a:off x="365760" y="48280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7DC8A8"/>
                </a:solidFill>
              </a:rPr>
              <a:t>The operation_logs collection makes replication delay a first-class measured metric — not an invisible side effect.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1785</Words>
  <Application>Microsoft Macintosh PowerPoint</Application>
  <PresentationFormat>On-screen Show (16:9)</PresentationFormat>
  <Paragraphs>267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Replication in a Single-Leader Environment</dc:title>
  <dc:subject>PptxGenJS Presentation</dc:subject>
  <dc:creator>Mert Karahan, Dogukan Topcu</dc:creator>
  <cp:lastModifiedBy>DOĞUKAN TOPÇU</cp:lastModifiedBy>
  <cp:revision>10</cp:revision>
  <dcterms:created xsi:type="dcterms:W3CDTF">2026-06-08T19:53:07Z</dcterms:created>
  <dcterms:modified xsi:type="dcterms:W3CDTF">2026-06-15T20:40:44Z</dcterms:modified>
</cp:coreProperties>
</file>